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c38c85b3e045fd" /><Relationship Type="http://schemas.openxmlformats.org/officeDocument/2006/relationships/extended-properties" Target="/docProps/app.xml" Id="Rab4c4a4506674ab9" /><Relationship Type="http://schemas.openxmlformats.org/officeDocument/2006/relationships/officeDocument" Target="/ppt/presentation.xml" Id="R0f3bb1fb59a94b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9215f44d74f4e"/>
  </p:sldMasterIdLst>
  <p:notesMasterIdLst>
    <p:notesMasterId xmlns:r="http://schemas.openxmlformats.org/officeDocument/2006/relationships" r:id="Re3fd0ea042ff43ce"/>
  </p:notesMasterIdLst>
  <p:sldIdLst>
    <p:sldId xmlns:r="http://schemas.openxmlformats.org/officeDocument/2006/relationships" id="256" r:id="R702948b879da499f"/>
    <p:sldId xmlns:r="http://schemas.openxmlformats.org/officeDocument/2006/relationships" id="257" r:id="R4a1167baee63437b"/>
    <p:sldId xmlns:r="http://schemas.openxmlformats.org/officeDocument/2006/relationships" id="258" r:id="R807768d2ab1e4bc0"/>
    <p:sldId xmlns:r="http://schemas.openxmlformats.org/officeDocument/2006/relationships" id="259" r:id="R18b3e588eb0d4d1a"/>
    <p:sldId xmlns:r="http://schemas.openxmlformats.org/officeDocument/2006/relationships" id="260" r:id="Re17742f8253a45ec"/>
    <p:sldId xmlns:r="http://schemas.openxmlformats.org/officeDocument/2006/relationships" id="261" r:id="Ra787fc4127e94e39"/>
    <p:sldId xmlns:r="http://schemas.openxmlformats.org/officeDocument/2006/relationships" id="262" r:id="R8d6d460b868c4afe"/>
    <p:sldId xmlns:r="http://schemas.openxmlformats.org/officeDocument/2006/relationships" id="263" r:id="R8d98ce36290247ef"/>
    <p:sldId xmlns:r="http://schemas.openxmlformats.org/officeDocument/2006/relationships" id="264" r:id="R0b7857b21cee4cca"/>
    <p:sldId xmlns:r="http://schemas.openxmlformats.org/officeDocument/2006/relationships" id="265" r:id="R0377eae5432943cf"/>
    <p:sldId xmlns:r="http://schemas.openxmlformats.org/officeDocument/2006/relationships" id="266" r:id="Ra13c1c69a6c14708"/>
    <p:sldId xmlns:r="http://schemas.openxmlformats.org/officeDocument/2006/relationships" id="267" r:id="Rdcb03dc721e546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6365f752594707" /><Relationship Type="http://schemas.openxmlformats.org/officeDocument/2006/relationships/slideMaster" Target="/ppt/slideMasters/slideMaster1.xml" Id="R5ef9215f44d74f4e" /><Relationship Type="http://schemas.openxmlformats.org/officeDocument/2006/relationships/notesMaster" Target="/ppt/notesMasters/notesMaster1.xml" Id="Re3fd0ea042ff43ce" /><Relationship Type="http://schemas.openxmlformats.org/officeDocument/2006/relationships/presProps" Target="/ppt/presProps.xml" Id="R2a5c107289d548d8" /><Relationship Type="http://schemas.openxmlformats.org/officeDocument/2006/relationships/tableStyles" Target="/ppt/tableStyles.xml" Id="Re3632e15c1154017" /><Relationship Type="http://schemas.openxmlformats.org/officeDocument/2006/relationships/slide" Target="/ppt/slides/slide1.xml" Id="R702948b879da499f" /><Relationship Type="http://schemas.openxmlformats.org/officeDocument/2006/relationships/slide" Target="/ppt/slides/slide2.xml" Id="R4a1167baee63437b" /><Relationship Type="http://schemas.openxmlformats.org/officeDocument/2006/relationships/slide" Target="/ppt/slides/slide3.xml" Id="R807768d2ab1e4bc0" /><Relationship Type="http://schemas.openxmlformats.org/officeDocument/2006/relationships/slide" Target="/ppt/slides/slide4.xml" Id="R18b3e588eb0d4d1a" /><Relationship Type="http://schemas.openxmlformats.org/officeDocument/2006/relationships/slide" Target="/ppt/slides/slide5.xml" Id="Re17742f8253a45ec" /><Relationship Type="http://schemas.openxmlformats.org/officeDocument/2006/relationships/slide" Target="/ppt/slides/slide6.xml" Id="Ra787fc4127e94e39" /><Relationship Type="http://schemas.openxmlformats.org/officeDocument/2006/relationships/slide" Target="/ppt/slides/slide7.xml" Id="R8d6d460b868c4afe" /><Relationship Type="http://schemas.openxmlformats.org/officeDocument/2006/relationships/slide" Target="/ppt/slides/slide8.xml" Id="R8d98ce36290247ef" /><Relationship Type="http://schemas.openxmlformats.org/officeDocument/2006/relationships/slide" Target="/ppt/slides/slide9.xml" Id="R0b7857b21cee4cca" /><Relationship Type="http://schemas.openxmlformats.org/officeDocument/2006/relationships/slide" Target="/ppt/slides/slide10.xml" Id="R0377eae5432943cf" /><Relationship Type="http://schemas.openxmlformats.org/officeDocument/2006/relationships/slide" Target="/ppt/slides/slide11.xml" Id="Ra13c1c69a6c14708" /><Relationship Type="http://schemas.openxmlformats.org/officeDocument/2006/relationships/slide" Target="/ppt/slides/slide12.xml" Id="Rdcb03dc721e546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be8010283649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0db52dc5de495d" /><Relationship Type="http://schemas.openxmlformats.org/officeDocument/2006/relationships/notesMaster" Target="/ppt/notesMasters/notesMaster1.xml" Id="R94ae3e9fe5c74b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9052770d134bab" /><Relationship Type="http://schemas.openxmlformats.org/officeDocument/2006/relationships/notesMaster" Target="/ppt/notesMasters/notesMaster1.xml" Id="Ra55c2b1853b34e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37efbbb22549eb" /><Relationship Type="http://schemas.openxmlformats.org/officeDocument/2006/relationships/notesMaster" Target="/ppt/notesMasters/notesMaster1.xml" Id="R45dcf182ca3c42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2b736a9ef44578" /><Relationship Type="http://schemas.openxmlformats.org/officeDocument/2006/relationships/notesMaster" Target="/ppt/notesMasters/notesMaster1.xml" Id="Rc90d8209fb9648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cedaa23e85459d" /><Relationship Type="http://schemas.openxmlformats.org/officeDocument/2006/relationships/notesMaster" Target="/ppt/notesMasters/notesMaster1.xml" Id="Rf76b66fa3e8848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9ed57919534ff7" /><Relationship Type="http://schemas.openxmlformats.org/officeDocument/2006/relationships/notesMaster" Target="/ppt/notesMasters/notesMaster1.xml" Id="R7259a4024b7e40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9ca0e05ecb43d7" /><Relationship Type="http://schemas.openxmlformats.org/officeDocument/2006/relationships/notesMaster" Target="/ppt/notesMasters/notesMaster1.xml" Id="Rd8c6d9fcfb6f4f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9ff201f8a94610" /><Relationship Type="http://schemas.openxmlformats.org/officeDocument/2006/relationships/notesMaster" Target="/ppt/notesMasters/notesMaster1.xml" Id="Rf9558db7b1a643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85445b020e43b1" /><Relationship Type="http://schemas.openxmlformats.org/officeDocument/2006/relationships/notesMaster" Target="/ppt/notesMasters/notesMaster1.xml" Id="R0afdb4b0441b42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424a5e131a4fde" /><Relationship Type="http://schemas.openxmlformats.org/officeDocument/2006/relationships/notesMaster" Target="/ppt/notesMasters/notesMaster1.xml" Id="Rd02a61af452e4e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3609b7a7414457" /><Relationship Type="http://schemas.openxmlformats.org/officeDocument/2006/relationships/notesMaster" Target="/ppt/notesMasters/notesMaster1.xml" Id="Rdfb28381dd454c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e2e5bf8cdf4968" /><Relationship Type="http://schemas.openxmlformats.org/officeDocument/2006/relationships/notesMaster" Target="/ppt/notesMasters/notesMaster1.xml" Id="Rf40814f1e30d44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真实截图：home-current.png、mobile-home.png</a:t>
            </a:r>
          </a:p>
          <a:p xmlns:a="http://schemas.openxmlformats.org/drawingml/2006/main">
            <a:r>
              <a:t>- HANDOVER.md：题库规模与跨端交付记录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真实截图：card-drill.png、paper-preview.png、quick-entry.png、report.png</a:t>
            </a:r>
          </a:p>
          <a:p xmlns:a="http://schemas.openxmlformats.org/drawingml/2006/main">
            <a:r>
              <a:t>- HANDOVER.md：选题—作答—录分—复习闭环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真实截图：card-drill.png</a:t>
            </a:r>
          </a:p>
          <a:p xmlns:a="http://schemas.openxmlformats.org/drawingml/2006/main">
            <a:r>
              <a:t>- 用户提供答案切片：before-half-answer.png</a:t>
            </a:r>
          </a:p>
          <a:p xmlns:a="http://schemas.openxmlformats.org/drawingml/2006/main">
            <a:r>
              <a:t>- public/bank/questions.json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真实截图：random-drill-options.png</a:t>
            </a:r>
          </a:p>
          <a:p xmlns:a="http://schemas.openxmlformats.org/drawingml/2006/main">
            <a:r>
              <a:t>- src/services/practiceSession.ts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真实截图：card-drill.png、card-answer.png</a:t>
            </a:r>
          </a:p>
          <a:p xmlns:a="http://schemas.openxmlformats.org/drawingml/2006/main">
            <a:r>
              <a:t>- src/views/CardDrillView.tsx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真实截图：ai-tutor.png</a:t>
            </a:r>
          </a:p>
          <a:p xmlns:a="http://schemas.openxmlformats.org/drawingml/2006/main">
            <a:r>
              <a:t>- src/services/aiTutor.ts：分流、校验、清洗与回退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真实截图：error-review-all.png</a:t>
            </a:r>
          </a:p>
          <a:p xmlns:a="http://schemas.openxmlformats.org/drawingml/2006/main">
            <a:r>
              <a:t>- src/views/EbbinghausView.tsx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真实截图：quick-entry.png、quick-ocr.png</a:t>
            </a:r>
          </a:p>
          <a:p xmlns:a="http://schemas.openxmlformats.org/drawingml/2006/main">
            <a:r>
              <a:t>- src/views/QuickEntryView.tsx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真实截图：paper-generator.png、paper-preview.png</a:t>
            </a:r>
          </a:p>
          <a:p xmlns:a="http://schemas.openxmlformats.org/drawingml/2006/main">
            <a:r>
              <a:t>- src/views/PaperGeneratorView.tsx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真实截图：paper-share.png</a:t>
            </a:r>
          </a:p>
          <a:p xmlns:a="http://schemas.openxmlformats.org/drawingml/2006/main">
            <a:r>
              <a:t>- src/services/paperPageRenderer.ts、fileDelivery.ts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真实截图：leaderboard.png、admin-members.png</a:t>
            </a:r>
          </a:p>
          <a:p xmlns:a="http://schemas.openxmlformats.org/drawingml/2006/main">
            <a:r>
              <a:t>- src/views/LeaderboardView.tsx、AdminView.tsx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手机截图：mobile-home.png、mobile-drill.png、mobile-ai.png</a:t>
            </a:r>
          </a:p>
          <a:p xmlns:a="http://schemas.openxmlformats.org/drawingml/2006/main">
            <a:r>
              <a:t>- HANDOVER.md：测试与 Android 验证</a:t>
            </a:r>
          </a:p>
          <a:p xmlns:a="http://schemas.openxmlformats.org/drawingml/2006/main">
            <a:r>
              <a:t>- Bugbot 复核记录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3388d78c274a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a6163af8f447b0" /><Relationship Type="http://schemas.openxmlformats.org/officeDocument/2006/relationships/slideLayout" Target="/ppt/slideLayouts/slideLayout1.xml" Id="Rd9d3d80abe6e48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d3d80abe6e48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4becafa944f72" /><Relationship Type="http://schemas.openxmlformats.org/officeDocument/2006/relationships/image" Target="/ppt/media/image.jpeg" Id="R0beb490ddb494d39" /><Relationship Type="http://schemas.openxmlformats.org/officeDocument/2006/relationships/image" Target="/ppt/media/image2.jpeg" Id="R649f4fcaa91c4439" /><Relationship Type="http://schemas.openxmlformats.org/officeDocument/2006/relationships/notesSlide" Target="/ppt/notesSlides/notesSlide1.xml" Id="Rd219303cbdce47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883938d5d499d" /><Relationship Type="http://schemas.openxmlformats.org/officeDocument/2006/relationships/image" Target="/ppt/media/image3.jpeg" Id="R62f3eb250e5e4b1c" /><Relationship Type="http://schemas.openxmlformats.org/officeDocument/2006/relationships/image" Target="/ppt/media/image4.jpeg" Id="Re2f65b59880a4c95" /><Relationship Type="http://schemas.openxmlformats.org/officeDocument/2006/relationships/image" Target="/ppt/media/image5.jpeg" Id="Rc7c2c99b53a24c5e" /><Relationship Type="http://schemas.openxmlformats.org/officeDocument/2006/relationships/image" Target="/ppt/media/image6.jpeg" Id="Ra60771a3ba7a46ea" /><Relationship Type="http://schemas.openxmlformats.org/officeDocument/2006/relationships/notesSlide" Target="/ppt/notesSlides/notesSlide2.xml" Id="R28a06dc40fda44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2f9c84a72467c" /><Relationship Type="http://schemas.openxmlformats.org/officeDocument/2006/relationships/image" Target="/ppt/media/image7.jpeg" Id="R2e2bfce84f9e4913" /><Relationship Type="http://schemas.openxmlformats.org/officeDocument/2006/relationships/image" Target="/ppt/media/image.png" Id="R322bcc521f624ac9" /><Relationship Type="http://schemas.openxmlformats.org/officeDocument/2006/relationships/notesSlide" Target="/ppt/notesSlides/notesSlide3.xml" Id="Rc3ff8ebe7db240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ce82015374d8c" /><Relationship Type="http://schemas.openxmlformats.org/officeDocument/2006/relationships/image" Target="/ppt/media/image8.jpeg" Id="R00eaa86b65b94330" /><Relationship Type="http://schemas.openxmlformats.org/officeDocument/2006/relationships/notesSlide" Target="/ppt/notesSlides/notesSlide4.xml" Id="R26f91ec2aa7f42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140f2250f45f0" /><Relationship Type="http://schemas.openxmlformats.org/officeDocument/2006/relationships/image" Target="/ppt/media/image9.jpeg" Id="Re781a359f6284229" /><Relationship Type="http://schemas.openxmlformats.org/officeDocument/2006/relationships/image" Target="/ppt/media/image10.jpeg" Id="R99bd9edf9b444bda" /><Relationship Type="http://schemas.openxmlformats.org/officeDocument/2006/relationships/notesSlide" Target="/ppt/notesSlides/notesSlide5.xml" Id="R77e4f23ab0884c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c7591656c4deb" /><Relationship Type="http://schemas.openxmlformats.org/officeDocument/2006/relationships/image" Target="/ppt/media/image11.jpeg" Id="R5e763a22249a46fd" /><Relationship Type="http://schemas.openxmlformats.org/officeDocument/2006/relationships/notesSlide" Target="/ppt/notesSlides/notesSlide6.xml" Id="R088681655d274f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cee8df4fc4a8c" /><Relationship Type="http://schemas.openxmlformats.org/officeDocument/2006/relationships/image" Target="/ppt/media/image12.jpeg" Id="R5dcce400d7e24162" /><Relationship Type="http://schemas.openxmlformats.org/officeDocument/2006/relationships/notesSlide" Target="/ppt/notesSlides/notesSlide7.xml" Id="R2614af601b654e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a846810a34ab8" /><Relationship Type="http://schemas.openxmlformats.org/officeDocument/2006/relationships/image" Target="/ppt/media/image13.jpeg" Id="Rf9cb2ced059b4852" /><Relationship Type="http://schemas.openxmlformats.org/officeDocument/2006/relationships/image" Target="/ppt/media/image14.jpeg" Id="Ra4588cb431274b5a" /><Relationship Type="http://schemas.openxmlformats.org/officeDocument/2006/relationships/notesSlide" Target="/ppt/notesSlides/notesSlide8.xml" Id="R73c484a6662b46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3664eb5f04cd2" /><Relationship Type="http://schemas.openxmlformats.org/officeDocument/2006/relationships/image" Target="/ppt/media/image15.jpeg" Id="Rb497c6c74b224e38" /><Relationship Type="http://schemas.openxmlformats.org/officeDocument/2006/relationships/image" Target="/ppt/media/image16.jpeg" Id="R01d8c6573c05480e" /><Relationship Type="http://schemas.openxmlformats.org/officeDocument/2006/relationships/notesSlide" Target="/ppt/notesSlides/notesSlide9.xml" Id="Rcc4a564cbd2744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a5c75a80243d6" /><Relationship Type="http://schemas.openxmlformats.org/officeDocument/2006/relationships/image" Target="/ppt/media/image17.jpeg" Id="R80454f7c40ec4453" /><Relationship Type="http://schemas.openxmlformats.org/officeDocument/2006/relationships/notesSlide" Target="/ppt/notesSlides/notesSlide10.xml" Id="Re0ada4b3a3444b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7aba2b7164fef" /><Relationship Type="http://schemas.openxmlformats.org/officeDocument/2006/relationships/image" Target="/ppt/media/image18.jpeg" Id="Ra0953d5a53984cf1" /><Relationship Type="http://schemas.openxmlformats.org/officeDocument/2006/relationships/image" Target="/ppt/media/image19.jpeg" Id="Rbf043ba33f3543b5" /><Relationship Type="http://schemas.openxmlformats.org/officeDocument/2006/relationships/notesSlide" Target="/ppt/notesSlides/notesSlide11.xml" Id="R98500d3fce264f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7a0232aa64817" /><Relationship Type="http://schemas.openxmlformats.org/officeDocument/2006/relationships/image" Target="/ppt/media/image20.jpeg" Id="R53b249602e704841" /><Relationship Type="http://schemas.openxmlformats.org/officeDocument/2006/relationships/image" Target="/ppt/media/image21.jpeg" Id="R05e0d171ee884e76" /><Relationship Type="http://schemas.openxmlformats.org/officeDocument/2006/relationships/image" Target="/ppt/media/image22.jpeg" Id="Radc20d8bbb7a4f08" /><Relationship Type="http://schemas.openxmlformats.org/officeDocument/2006/relationships/notesSlide" Target="/ppt/notesSlides/notesSlide12.xml" Id="R9f69fa781a8447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">
            <a:extLst xmlns:a="http://schemas.openxmlformats.org/drawingml/2006/main">
              <a:ext uri="{FF2B5EF4-FFF2-40B4-BE49-F238E27FC236}">
                <a16:creationId xmlns:a16="http://schemas.microsoft.com/office/drawing/2014/main" id="{E2E3BB5D-8957-4B64-AD9C-8726E6DA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卓越教育 · 高斯奥数 15 讲</a:t>
            </a:r>
          </a:p>
        </p:txBody>
      </p:sp>
      <p:sp>
        <p:nvSpPr>
          <p:cNvPr id="2" name="t">
            <a:extLst xmlns:a="http://schemas.openxmlformats.org/drawingml/2006/main">
              <a:ext uri="{FF2B5EF4-FFF2-40B4-BE49-F238E27FC236}">
                <a16:creationId xmlns:a16="http://schemas.microsoft.com/office/drawing/2014/main" id="{4B7E7717-269E-4D80-8D28-52606040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828"/>
                </a:solidFill>
              </a:defRPr>
            </a:pPr>
            <a:r>
              <a:rPr sz="4200" b="1">
                <a:solidFill>
                  <a:srgbClr val="101828"/>
                </a:solidFill>
              </a:rPr>
              <a:t>Q3 季度考</a:t>
            </a:r>
          </a:p>
          <a:p xmlns:a="http://schemas.openxmlformats.org/drawingml/2006/main">
            <a:pPr algn="l">
              <a:defRPr sz="4200" b="1">
                <a:solidFill>
                  <a:srgbClr val="101828"/>
                </a:solidFill>
              </a:defRPr>
            </a:pPr>
            <a:r>
              <a:rPr sz="4200" b="1">
                <a:solidFill>
                  <a:srgbClr val="101828"/>
                </a:solidFill>
              </a:rPr>
              <a:t>智能备考系统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9BC56E41-7C7E-474D-B2C4-42A2D772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4762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真题刷练、AI 精讲、纸卷录分、错题复习与团队学情，形成一条可恢复的教学闭环。</a:t>
            </a:r>
          </a:p>
        </p:txBody>
      </p:sp>
      <p:sp>
        <p:nvSpPr>
          <p:cNvPr id="4" name="proof">
            <a:extLst xmlns:a="http://schemas.openxmlformats.org/drawingml/2006/main">
              <a:ext uri="{FF2B5EF4-FFF2-40B4-BE49-F238E27FC236}">
                <a16:creationId xmlns:a16="http://schemas.microsoft.com/office/drawing/2014/main" id="{BC26F4CA-4E57-4908-8575-763C165A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479 道真题 · 240 条数学名言 · 网页与安卓端</a:t>
            </a:r>
          </a:p>
        </p:txBody>
      </p:sp>
      <p:sp>
        <p:nvSpPr>
          <p:cNvPr id="5" name="field">
            <a:extLst xmlns:a="http://schemas.openxmlformats.org/drawingml/2006/main">
              <a:ext uri="{FF2B5EF4-FFF2-40B4-BE49-F238E27FC236}">
                <a16:creationId xmlns:a16="http://schemas.microsoft.com/office/drawing/2014/main" id="{2D0A2055-8576-47E1-A596-4576B507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1950"/>
            <a:ext cx="57150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ome-frame">
            <a:extLst xmlns:a="http://schemas.openxmlformats.org/drawingml/2006/main">
              <a:ext uri="{FF2B5EF4-FFF2-40B4-BE49-F238E27FC236}">
                <a16:creationId xmlns:a16="http://schemas.microsoft.com/office/drawing/2014/main" id="{5DC859B0-E3AB-4B56-86AB-C7A2B541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3400"/>
            <a:ext cx="5314950" cy="300990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b490ddb494d39"/>
          <a:srcRect xmlns:a="http://schemas.openxmlformats.org/drawingml/2006/main" l="34" t="0" r="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552450"/>
            <a:ext cx="5276850" cy="2971800"/>
          </a:xfrm>
          <a:prstGeom xmlns:a="http://schemas.openxmlformats.org/drawingml/2006/main" prst="roundRect">
            <a:avLst>
              <a:gd name="adj" fmla="val 3205"/>
            </a:avLst>
          </a:prstGeom>
        </p:spPr>
      </p:pic>
      <p:sp>
        <p:nvSpPr>
          <p:cNvPr id="8" name="phone-frame">
            <a:extLst xmlns:a="http://schemas.openxmlformats.org/drawingml/2006/main">
              <a:ext uri="{FF2B5EF4-FFF2-40B4-BE49-F238E27FC236}">
                <a16:creationId xmlns:a16="http://schemas.microsoft.com/office/drawing/2014/main" id="{E1B356BC-219C-49EE-9831-3279304C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2190750" cy="23622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f4fcaa91c4439"/>
          <a:srcRect xmlns:a="http://schemas.openxmlformats.org/drawingml/2006/main" l="0" t="25020" r="0" b="25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3714750"/>
            <a:ext cx="2152650" cy="2324100"/>
          </a:xfrm>
          <a:prstGeom xmlns:a="http://schemas.openxmlformats.org/drawingml/2006/main" prst="roundRect">
            <a:avLst>
              <a:gd name="adj" fmla="val 4425"/>
            </a:avLst>
          </a:prstGeom>
        </p:spPr>
      </p:pic>
      <p:sp>
        <p:nvSpPr>
          <p:cNvPr id="10" name="same-bar">
            <a:extLst xmlns:a="http://schemas.openxmlformats.org/drawingml/2006/main">
              <a:ext uri="{FF2B5EF4-FFF2-40B4-BE49-F238E27FC236}">
                <a16:creationId xmlns:a16="http://schemas.microsoft.com/office/drawing/2014/main" id="{CDD49C2A-4D9D-40AC-BA84-B867574F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6252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ame">
            <a:extLst xmlns:a="http://schemas.openxmlformats.org/drawingml/2006/main">
              <a:ext uri="{FF2B5EF4-FFF2-40B4-BE49-F238E27FC236}">
                <a16:creationId xmlns:a16="http://schemas.microsoft.com/office/drawing/2014/main" id="{8D7417C7-E888-45F9-BA36-4316E7BF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30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同一套数据，桌面与手机连续使用</a:t>
            </a:r>
          </a:p>
        </p:txBody>
      </p:sp>
    </p:spTree>
    <p:extLst>
      <p:ext uri="{BB962C8B-B14F-4D97-AF65-F5344CB8AC3E}">
        <p14:creationId xmlns:p14="http://schemas.microsoft.com/office/powerpoint/2010/main" val="709222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2">
            <a:extLst xmlns:a="http://schemas.openxmlformats.org/drawingml/2006/main">
              <a:ext uri="{FF2B5EF4-FFF2-40B4-BE49-F238E27FC236}">
                <a16:creationId xmlns:a16="http://schemas.microsoft.com/office/drawing/2014/main" id="{EE38F208-D627-4A7B-A4CE-725A33AC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Q3 智能备考系统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A7EBA5B-F394-4657-925A-E3311274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每一次纸笔练习，都会变成下一次复习依据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8567283-9298-4C00-8121-6378E700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" name="sub">
            <a:extLst xmlns:a="http://schemas.openxmlformats.org/drawingml/2006/main">
              <a:ext uri="{FF2B5EF4-FFF2-40B4-BE49-F238E27FC236}">
                <a16:creationId xmlns:a16="http://schemas.microsoft.com/office/drawing/2014/main" id="{1E492AEB-D1F6-47EA-B504-17191905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系统不改变老师熟悉的做题方式，只把选题、判分、复习和学情连接起来。</a:t>
            </a:r>
          </a:p>
        </p:txBody>
      </p:sp>
      <p:sp>
        <p:nvSpPr>
          <p:cNvPr id="5" name="i0-frame">
            <a:extLst xmlns:a="http://schemas.openxmlformats.org/drawingml/2006/main">
              <a:ext uri="{FF2B5EF4-FFF2-40B4-BE49-F238E27FC236}">
                <a16:creationId xmlns:a16="http://schemas.microsoft.com/office/drawing/2014/main" id="{A39F2029-3566-4372-83A4-808FEEEF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259080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3eb250e5e4b1c"/>
          <a:srcRect xmlns:a="http://schemas.openxmlformats.org/drawingml/2006/main" l="0" t="275" r="0" b="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2552700" cy="14287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7" name="n0">
            <a:extLst xmlns:a="http://schemas.openxmlformats.org/drawingml/2006/main">
              <a:ext uri="{FF2B5EF4-FFF2-40B4-BE49-F238E27FC236}">
                <a16:creationId xmlns:a16="http://schemas.microsoft.com/office/drawing/2014/main" id="{DE824ABF-6E21-4E0A-8E63-11F44188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tt0">
            <a:extLst xmlns:a="http://schemas.openxmlformats.org/drawingml/2006/main">
              <a:ext uri="{FF2B5EF4-FFF2-40B4-BE49-F238E27FC236}">
                <a16:creationId xmlns:a16="http://schemas.microsoft.com/office/drawing/2014/main" id="{08FD8378-F2BB-4E58-AFFE-31F6049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选题</a:t>
            </a:r>
          </a:p>
        </p:txBody>
      </p:sp>
      <p:sp>
        <p:nvSpPr>
          <p:cNvPr id="9" name="c0">
            <a:extLst xmlns:a="http://schemas.openxmlformats.org/drawingml/2006/main">
              <a:ext uri="{FF2B5EF4-FFF2-40B4-BE49-F238E27FC236}">
                <a16:creationId xmlns:a16="http://schemas.microsoft.com/office/drawing/2014/main" id="{E6335D18-7F91-4D64-B286-59E63B6F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按年级、模块、篇章筛选</a:t>
            </a:r>
          </a:p>
        </p:txBody>
      </p:sp>
      <p:sp>
        <p:nvSpPr>
          <p:cNvPr id="10" name="ar0">
            <a:extLst xmlns:a="http://schemas.openxmlformats.org/drawingml/2006/main">
              <a:ext uri="{FF2B5EF4-FFF2-40B4-BE49-F238E27FC236}">
                <a16:creationId xmlns:a16="http://schemas.microsoft.com/office/drawing/2014/main" id="{EF3D805F-8074-4713-B926-E7CF0FC8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717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0D5DD"/>
                </a:solidFill>
              </a:defRPr>
            </a:pPr>
            <a:r>
              <a:rPr sz="2100" b="1">
                <a:solidFill>
                  <a:srgbClr val="D0D5DD"/>
                </a:solidFill>
              </a:rPr>
              <a:t>→</a:t>
            </a:r>
          </a:p>
        </p:txBody>
      </p:sp>
      <p:sp>
        <p:nvSpPr>
          <p:cNvPr id="11" name="i1-frame">
            <a:extLst xmlns:a="http://schemas.openxmlformats.org/drawingml/2006/main">
              <a:ext uri="{FF2B5EF4-FFF2-40B4-BE49-F238E27FC236}">
                <a16:creationId xmlns:a16="http://schemas.microsoft.com/office/drawing/2014/main" id="{D2420DC1-5272-4CD2-A87E-52B37150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81200"/>
            <a:ext cx="259080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65b59880a4c95"/>
          <a:srcRect xmlns:a="http://schemas.openxmlformats.org/drawingml/2006/main" l="0" t="275" r="0" b="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1850" y="2000250"/>
            <a:ext cx="2552700" cy="14287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3" name="n1">
            <a:extLst xmlns:a="http://schemas.openxmlformats.org/drawingml/2006/main">
              <a:ext uri="{FF2B5EF4-FFF2-40B4-BE49-F238E27FC236}">
                <a16:creationId xmlns:a16="http://schemas.microsoft.com/office/drawing/2014/main" id="{2BABF816-094C-4F80-8409-8E4733B9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95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tt1">
            <a:extLst xmlns:a="http://schemas.openxmlformats.org/drawingml/2006/main">
              <a:ext uri="{FF2B5EF4-FFF2-40B4-BE49-F238E27FC236}">
                <a16:creationId xmlns:a16="http://schemas.microsoft.com/office/drawing/2014/main" id="{773BA2EF-0148-4D3E-851C-97ABC1C3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38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作答</a:t>
            </a:r>
          </a:p>
        </p:txBody>
      </p:sp>
      <p:sp>
        <p:nvSpPr>
          <p:cNvPr id="15" name="c1">
            <a:extLst xmlns:a="http://schemas.openxmlformats.org/drawingml/2006/main">
              <a:ext uri="{FF2B5EF4-FFF2-40B4-BE49-F238E27FC236}">
                <a16:creationId xmlns:a16="http://schemas.microsoft.com/office/drawing/2014/main" id="{4DFBD597-B6D8-4A00-B605-B5D83323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481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卡片刷题或标准 A4 试卷</a:t>
            </a:r>
          </a:p>
        </p:txBody>
      </p:sp>
      <p:sp>
        <p:nvSpPr>
          <p:cNvPr id="16" name="ar1">
            <a:extLst xmlns:a="http://schemas.openxmlformats.org/drawingml/2006/main">
              <a:ext uri="{FF2B5EF4-FFF2-40B4-BE49-F238E27FC236}">
                <a16:creationId xmlns:a16="http://schemas.microsoft.com/office/drawing/2014/main" id="{60A9E2AF-97BB-4C15-AB0F-DB4EE13A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0D5DD"/>
                </a:solidFill>
              </a:defRPr>
            </a:pPr>
            <a:r>
              <a:rPr sz="2100" b="1">
                <a:solidFill>
                  <a:srgbClr val="D0D5DD"/>
                </a:solidFill>
              </a:rPr>
              <a:t>→</a:t>
            </a:r>
          </a:p>
        </p:txBody>
      </p:sp>
      <p:sp>
        <p:nvSpPr>
          <p:cNvPr id="17" name="i2-frame">
            <a:extLst xmlns:a="http://schemas.openxmlformats.org/drawingml/2006/main">
              <a:ext uri="{FF2B5EF4-FFF2-40B4-BE49-F238E27FC236}">
                <a16:creationId xmlns:a16="http://schemas.microsoft.com/office/drawing/2014/main" id="{CF597569-A1C7-47B2-A000-8E1EBE50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81200"/>
            <a:ext cx="259080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2c99b53a24c5e"/>
          <a:srcRect xmlns:a="http://schemas.openxmlformats.org/drawingml/2006/main" l="0" t="275" r="0" b="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2000250"/>
            <a:ext cx="2552700" cy="14287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9" name="n2">
            <a:extLst xmlns:a="http://schemas.openxmlformats.org/drawingml/2006/main">
              <a:ext uri="{FF2B5EF4-FFF2-40B4-BE49-F238E27FC236}">
                <a16:creationId xmlns:a16="http://schemas.microsoft.com/office/drawing/2014/main" id="{0018227D-ABD7-44E7-A2E0-22196789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95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20" name="tt2">
            <a:extLst xmlns:a="http://schemas.openxmlformats.org/drawingml/2006/main">
              <a:ext uri="{FF2B5EF4-FFF2-40B4-BE49-F238E27FC236}">
                <a16:creationId xmlns:a16="http://schemas.microsoft.com/office/drawing/2014/main" id="{13DBE91E-2C05-40B4-8135-D85A5ACE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38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录分</a:t>
            </a:r>
          </a:p>
        </p:txBody>
      </p:sp>
      <p:sp>
        <p:nvSpPr>
          <p:cNvPr id="21" name="c2">
            <a:extLst xmlns:a="http://schemas.openxmlformats.org/drawingml/2006/main">
              <a:ext uri="{FF2B5EF4-FFF2-40B4-BE49-F238E27FC236}">
                <a16:creationId xmlns:a16="http://schemas.microsoft.com/office/drawing/2014/main" id="{7A927999-D7F5-4619-A326-8A12686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矩阵勾选或拍照识别</a:t>
            </a:r>
          </a:p>
        </p:txBody>
      </p:sp>
      <p:sp>
        <p:nvSpPr>
          <p:cNvPr id="22" name="ar2">
            <a:extLst xmlns:a="http://schemas.openxmlformats.org/drawingml/2006/main">
              <a:ext uri="{FF2B5EF4-FFF2-40B4-BE49-F238E27FC236}">
                <a16:creationId xmlns:a16="http://schemas.microsoft.com/office/drawing/2014/main" id="{22AA0663-F775-4A9D-87CB-26395A4D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0D5DD"/>
                </a:solidFill>
              </a:defRPr>
            </a:pPr>
            <a:r>
              <a:rPr sz="2100" b="1">
                <a:solidFill>
                  <a:srgbClr val="D0D5DD"/>
                </a:solidFill>
              </a:rPr>
              <a:t>→</a:t>
            </a:r>
          </a:p>
        </p:txBody>
      </p:sp>
      <p:sp>
        <p:nvSpPr>
          <p:cNvPr id="23" name="i3-frame">
            <a:extLst xmlns:a="http://schemas.openxmlformats.org/drawingml/2006/main">
              <a:ext uri="{FF2B5EF4-FFF2-40B4-BE49-F238E27FC236}">
                <a16:creationId xmlns:a16="http://schemas.microsoft.com/office/drawing/2014/main" id="{007AF549-4CB8-4FAD-95AE-13461CAA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59080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771a3ba7a46ea"/>
          <a:srcRect xmlns:a="http://schemas.openxmlformats.org/drawingml/2006/main" l="0" t="14213" r="0" b="142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6850" y="2000250"/>
            <a:ext cx="2552700" cy="14287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25" name="n3">
            <a:extLst xmlns:a="http://schemas.openxmlformats.org/drawingml/2006/main">
              <a:ext uri="{FF2B5EF4-FFF2-40B4-BE49-F238E27FC236}">
                <a16:creationId xmlns:a16="http://schemas.microsoft.com/office/drawing/2014/main" id="{0852B2E8-3340-4593-971C-53160426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95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6" name="tt3">
            <a:extLst xmlns:a="http://schemas.openxmlformats.org/drawingml/2006/main">
              <a:ext uri="{FF2B5EF4-FFF2-40B4-BE49-F238E27FC236}">
                <a16:creationId xmlns:a16="http://schemas.microsoft.com/office/drawing/2014/main" id="{0347D691-DDE6-43B7-8D46-9EA37756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38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复习</a:t>
            </a:r>
          </a:p>
        </p:txBody>
      </p:sp>
      <p:sp>
        <p:nvSpPr>
          <p:cNvPr id="27" name="c3">
            <a:extLst xmlns:a="http://schemas.openxmlformats.org/drawingml/2006/main">
              <a:ext uri="{FF2B5EF4-FFF2-40B4-BE49-F238E27FC236}">
                <a16:creationId xmlns:a16="http://schemas.microsoft.com/office/drawing/2014/main" id="{D8977EED-61FC-4E28-8B10-D1644C01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错题周期与团队学情联动</a:t>
            </a:r>
          </a:p>
        </p:txBody>
      </p:sp>
      <p:sp>
        <p:nvSpPr>
          <p:cNvPr id="28" name="out">
            <a:extLst xmlns:a="http://schemas.openxmlformats.org/drawingml/2006/main">
              <a:ext uri="{FF2B5EF4-FFF2-40B4-BE49-F238E27FC236}">
                <a16:creationId xmlns:a16="http://schemas.microsoft.com/office/drawing/2014/main" id="{FFC70669-26C0-40A5-AB80-4E358DE5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10915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utt">
            <a:extLst xmlns:a="http://schemas.openxmlformats.org/drawingml/2006/main">
              <a:ext uri="{FF2B5EF4-FFF2-40B4-BE49-F238E27FC236}">
                <a16:creationId xmlns:a16="http://schemas.microsoft.com/office/drawing/2014/main" id="{EDB5053E-6005-49EA-87E2-E4C71CA2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教学结果不再散落在纸张、聊天记录和个人设备里。</a:t>
            </a:r>
          </a:p>
        </p:txBody>
      </p:sp>
    </p:spTree>
    <p:extLst>
      <p:ext uri="{BB962C8B-B14F-4D97-AF65-F5344CB8AC3E}">
        <p14:creationId xmlns:p14="http://schemas.microsoft.com/office/powerpoint/2010/main" val="7358989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3">
            <a:extLst xmlns:a="http://schemas.openxmlformats.org/drawingml/2006/main">
              <a:ext uri="{FF2B5EF4-FFF2-40B4-BE49-F238E27FC236}">
                <a16:creationId xmlns:a16="http://schemas.microsoft.com/office/drawing/2014/main" id="{4AC81B34-E40A-4471-AFF6-3315291E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Q3 智能备考系统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76891C6-5332-473A-92FB-415D7DC9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479 道原版真题，既能按章节学，也能看回原书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DE355EC6-BD62-4A5A-8960-01C9BB88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4" name="bank-frame">
            <a:extLst xmlns:a="http://schemas.openxmlformats.org/drawingml/2006/main">
              <a:ext uri="{FF2B5EF4-FFF2-40B4-BE49-F238E27FC236}">
                <a16:creationId xmlns:a16="http://schemas.microsoft.com/office/drawing/2014/main" id="{14580299-73B9-4237-BF66-B074FEEE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7105650" cy="4019550"/>
          </a:xfrm>
          <a:prstGeom xmlns:a="http://schemas.openxmlformats.org/drawingml/2006/main" prst="roundRect">
            <a:avLst>
              <a:gd name="adj" fmla="val 23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bfce84f9e4913"/>
          <a:srcRect xmlns:a="http://schemas.openxmlformats.org/drawingml/2006/main" l="49" t="0" r="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352550"/>
            <a:ext cx="7067550" cy="3981450"/>
          </a:xfrm>
          <a:prstGeom xmlns:a="http://schemas.openxmlformats.org/drawingml/2006/main" prst="roundRect">
            <a:avLst>
              <a:gd name="adj" fmla="val 2392"/>
            </a:avLst>
          </a:prstGeom>
        </p:spPr>
      </p:pic>
      <p:sp>
        <p:nvSpPr>
          <p:cNvPr id="6" name="crop-frame">
            <a:extLst xmlns:a="http://schemas.openxmlformats.org/drawingml/2006/main">
              <a:ext uri="{FF2B5EF4-FFF2-40B4-BE49-F238E27FC236}">
                <a16:creationId xmlns:a16="http://schemas.microsoft.com/office/drawing/2014/main" id="{3AAF3F44-C118-45C9-B577-5FA0CA4E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47800"/>
            <a:ext cx="33528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bcc521f624ac9"/>
          <a:stretch xmlns:a="http://schemas.openxmlformats.org/drawingml/2006/main"/>
        </p:blipFill>
        <p:spPr>
          <a:xfrm xmlns:a="http://schemas.openxmlformats.org/drawingml/2006/main">
            <a:off x="8020050" y="1724058"/>
            <a:ext cx="3314700" cy="1295335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8" name="v">
            <a:extLst xmlns:a="http://schemas.openxmlformats.org/drawingml/2006/main">
              <a:ext uri="{FF2B5EF4-FFF2-40B4-BE49-F238E27FC236}">
                <a16:creationId xmlns:a16="http://schemas.microsoft.com/office/drawing/2014/main" id="{E715448A-CA0F-4ED1-898C-0BE3E283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563EB"/>
                </a:solidFill>
              </a:defRPr>
            </a:pPr>
            <a:r>
              <a:rPr sz="3900" b="1">
                <a:solidFill>
                  <a:srgbClr val="2563EB"/>
                </a:solidFill>
              </a:rPr>
              <a:t>479</a:t>
            </a:r>
          </a:p>
        </p:txBody>
      </p:sp>
      <p:sp>
        <p:nvSpPr>
          <p:cNvPr id="9" name="cap">
            <a:extLst xmlns:a="http://schemas.openxmlformats.org/drawingml/2006/main">
              <a:ext uri="{FF2B5EF4-FFF2-40B4-BE49-F238E27FC236}">
                <a16:creationId xmlns:a16="http://schemas.microsoft.com/office/drawing/2014/main" id="{8C00FD63-A30C-4DF5-A291-7F6AC3D2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96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道题，覆盖 4 个年级、15 讲、6 大核心模块</a:t>
            </a:r>
          </a:p>
        </p:txBody>
      </p:sp>
      <p:sp>
        <p:nvSpPr>
          <p:cNvPr id="10" name="m">
            <a:extLst xmlns:a="http://schemas.openxmlformats.org/drawingml/2006/main">
              <a:ext uri="{FF2B5EF4-FFF2-40B4-BE49-F238E27FC236}">
                <a16:creationId xmlns:a16="http://schemas.microsoft.com/office/drawing/2014/main" id="{95D71F2E-A500-4993-8346-2EAF5AA7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图文双显 / 纯文字 / 原版切片</a:t>
            </a:r>
          </a:p>
        </p:txBody>
      </p:sp>
      <p:sp>
        <p:nvSpPr>
          <p:cNvPr id="11" name="why">
            <a:extLst xmlns:a="http://schemas.openxmlformats.org/drawingml/2006/main">
              <a:ext uri="{FF2B5EF4-FFF2-40B4-BE49-F238E27FC236}">
                <a16:creationId xmlns:a16="http://schemas.microsoft.com/office/drawing/2014/main" id="{880740A9-392F-4C08-935D-28561712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3880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文字便于检索与判分，切片保留图形、排版和官方解法。</a:t>
            </a:r>
          </a:p>
        </p:txBody>
      </p:sp>
    </p:spTree>
    <p:extLst>
      <p:ext uri="{BB962C8B-B14F-4D97-AF65-F5344CB8AC3E}">
        <p14:creationId xmlns:p14="http://schemas.microsoft.com/office/powerpoint/2010/main" val="8357003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4">
            <a:extLst xmlns:a="http://schemas.openxmlformats.org/drawingml/2006/main">
              <a:ext uri="{FF2B5EF4-FFF2-40B4-BE49-F238E27FC236}">
                <a16:creationId xmlns:a16="http://schemas.microsoft.com/office/drawing/2014/main" id="{A2CA0987-37E1-442B-9B7C-C6528199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Q3 智能备考系统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11D8F34-0F26-4367-B427-9FAEB4F4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随机刷题可以决定“怎么随机”和“从哪里随机”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08277E67-AA62-4076-B934-89C8587B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0F4B1E4F-6E80-4779-BFD2-2EA26B72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aa86b65b94330"/>
          <a:srcRect xmlns:a="http://schemas.openxmlformats.org/drawingml/2006/main" l="0" t="10282" r="0" b="10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371600"/>
            <a:ext cx="7200900" cy="4476750"/>
          </a:xfrm>
          <a:prstGeom xmlns:a="http://schemas.openxmlformats.org/drawingml/2006/main" prst="roundRect">
            <a:avLst>
              <a:gd name="adj" fmla="val 2128"/>
            </a:avLst>
          </a:prstGeom>
        </p:spPr>
      </p:pic>
      <p:sp>
        <p:nvSpPr>
          <p:cNvPr id="6" name="st-bar">
            <a:extLst xmlns:a="http://schemas.openxmlformats.org/drawingml/2006/main">
              <a:ext uri="{FF2B5EF4-FFF2-40B4-BE49-F238E27FC236}">
                <a16:creationId xmlns:a16="http://schemas.microsoft.com/office/drawing/2014/main" id="{A1895BEC-BE0A-4904-9C86-6FD57867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28775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">
            <a:extLst xmlns:a="http://schemas.openxmlformats.org/drawingml/2006/main">
              <a:ext uri="{FF2B5EF4-FFF2-40B4-BE49-F238E27FC236}">
                <a16:creationId xmlns:a16="http://schemas.microsoft.com/office/drawing/2014/main" id="{0D51486F-BDD0-4463-BC97-C0B3F0DD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策略可选</a:t>
            </a:r>
          </a:p>
        </p:txBody>
      </p:sp>
      <p:sp>
        <p:nvSpPr>
          <p:cNvPr id="8" name="stc">
            <a:extLst xmlns:a="http://schemas.openxmlformats.org/drawingml/2006/main">
              <a:ext uri="{FF2B5EF4-FFF2-40B4-BE49-F238E27FC236}">
                <a16:creationId xmlns:a16="http://schemas.microsoft.com/office/drawing/2014/main" id="{44855A8C-8799-4296-963F-214EB44A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2667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完全随机</a:t>
            </a:r>
          </a:p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未做优先</a:t>
            </a:r>
          </a:p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错题优先</a:t>
            </a:r>
          </a:p>
        </p:txBody>
      </p:sp>
      <p:sp>
        <p:nvSpPr>
          <p:cNvPr id="9" name="sc-bar">
            <a:extLst xmlns:a="http://schemas.openxmlformats.org/drawingml/2006/main">
              <a:ext uri="{FF2B5EF4-FFF2-40B4-BE49-F238E27FC236}">
                <a16:creationId xmlns:a16="http://schemas.microsoft.com/office/drawing/2014/main" id="{8551265F-CED3-4CC9-BC78-3BBE65C8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33775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">
            <a:extLst xmlns:a="http://schemas.openxmlformats.org/drawingml/2006/main">
              <a:ext uri="{FF2B5EF4-FFF2-40B4-BE49-F238E27FC236}">
                <a16:creationId xmlns:a16="http://schemas.microsoft.com/office/drawing/2014/main" id="{8635C51D-3F6A-4C3E-AC0B-805B5566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9455"/>
                </a:solidFill>
              </a:defRPr>
            </a:pPr>
            <a:r>
              <a:rPr sz="1425" b="1">
                <a:solidFill>
                  <a:srgbClr val="079455"/>
                </a:solidFill>
              </a:rPr>
              <a:t>范围可选</a:t>
            </a:r>
          </a:p>
        </p:txBody>
      </p:sp>
      <p:sp>
        <p:nvSpPr>
          <p:cNvPr id="11" name="scc">
            <a:extLst xmlns:a="http://schemas.openxmlformats.org/drawingml/2006/main">
              <a:ext uri="{FF2B5EF4-FFF2-40B4-BE49-F238E27FC236}">
                <a16:creationId xmlns:a16="http://schemas.microsoft.com/office/drawing/2014/main" id="{259AA659-3F5B-410C-BB38-1CDC4702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814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当前筛选 / 当前讲次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当前年级 / 完整题库</a:t>
            </a:r>
          </a:p>
        </p:txBody>
      </p:sp>
      <p:sp>
        <p:nvSpPr>
          <p:cNvPr id="12" name="d">
            <a:extLst xmlns:a="http://schemas.openxmlformats.org/drawingml/2006/main">
              <a:ext uri="{FF2B5EF4-FFF2-40B4-BE49-F238E27FC236}">
                <a16:creationId xmlns:a16="http://schemas.microsoft.com/office/drawing/2014/main" id="{3B4DC1C5-831F-4F8F-AE2F-D4EEEF77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340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保留访问历史，可回到上一题，并避免立即重复。</a:t>
            </a:r>
          </a:p>
        </p:txBody>
      </p:sp>
    </p:spTree>
    <p:extLst>
      <p:ext uri="{BB962C8B-B14F-4D97-AF65-F5344CB8AC3E}">
        <p14:creationId xmlns:p14="http://schemas.microsoft.com/office/powerpoint/2010/main" val="123839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5">
            <a:extLst xmlns:a="http://schemas.openxmlformats.org/drawingml/2006/main">
              <a:ext uri="{FF2B5EF4-FFF2-40B4-BE49-F238E27FC236}">
                <a16:creationId xmlns:a16="http://schemas.microsoft.com/office/drawing/2014/main" id="{075B4AE3-7DDE-4315-9059-E74A7C99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Q3 智能备考系统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3F1BEDB-B0CD-4AAF-9ECE-9C65ACC4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卡片刷题把判分、答案与纠错放在同一屏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81031315-3C47-4539-B6B8-C1C6AA3F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4" name="before-frame">
            <a:extLst xmlns:a="http://schemas.openxmlformats.org/drawingml/2006/main">
              <a:ext uri="{FF2B5EF4-FFF2-40B4-BE49-F238E27FC236}">
                <a16:creationId xmlns:a16="http://schemas.microsoft.com/office/drawing/2014/main" id="{D1D39086-ED87-4635-B91C-F0659D5D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5353050" cy="3028950"/>
          </a:xfrm>
          <a:prstGeom xmlns:a="http://schemas.openxmlformats.org/drawingml/2006/main" prst="roundRect">
            <a:avLst>
              <a:gd name="adj" fmla="val 3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1a359f6284229"/>
          <a:srcRect xmlns:a="http://schemas.openxmlformats.org/drawingml/2006/main" l="0" t="6" r="0" b="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28750"/>
            <a:ext cx="5314950" cy="2990850"/>
          </a:xfrm>
          <a:prstGeom xmlns:a="http://schemas.openxmlformats.org/drawingml/2006/main" prst="roundRect">
            <a:avLst>
              <a:gd name="adj" fmla="val 3185"/>
            </a:avLst>
          </a:prstGeom>
        </p:spPr>
      </p:pic>
      <p:sp>
        <p:nvSpPr>
          <p:cNvPr id="6" name="after-frame">
            <a:extLst xmlns:a="http://schemas.openxmlformats.org/drawingml/2006/main">
              <a:ext uri="{FF2B5EF4-FFF2-40B4-BE49-F238E27FC236}">
                <a16:creationId xmlns:a16="http://schemas.microsoft.com/office/drawing/2014/main" id="{A61F6E2A-1E4E-4793-A3ED-72CECF72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09700"/>
            <a:ext cx="5353050" cy="3028950"/>
          </a:xfrm>
          <a:prstGeom xmlns:a="http://schemas.openxmlformats.org/drawingml/2006/main" prst="roundRect">
            <a:avLst>
              <a:gd name="adj" fmla="val 3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d9edf9b444bda"/>
          <a:srcRect xmlns:a="http://schemas.openxmlformats.org/drawingml/2006/main" l="0" t="6" r="0" b="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428750"/>
            <a:ext cx="5314950" cy="2990850"/>
          </a:xfrm>
          <a:prstGeom xmlns:a="http://schemas.openxmlformats.org/drawingml/2006/main" prst="roundRect">
            <a:avLst>
              <a:gd name="adj" fmla="val 3185"/>
            </a:avLst>
          </a:prstGeom>
        </p:spPr>
      </p:pic>
      <p:sp>
        <p:nvSpPr>
          <p:cNvPr id="8" name="bt">
            <a:extLst xmlns:a="http://schemas.openxmlformats.org/drawingml/2006/main">
              <a:ext uri="{FF2B5EF4-FFF2-40B4-BE49-F238E27FC236}">
                <a16:creationId xmlns:a16="http://schemas.microsoft.com/office/drawing/2014/main" id="{87456578-72F4-4E94-9087-3CABF1FD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作答前</a:t>
            </a:r>
          </a:p>
        </p:txBody>
      </p:sp>
      <p:sp>
        <p:nvSpPr>
          <p:cNvPr id="9" name="bc">
            <a:extLst xmlns:a="http://schemas.openxmlformats.org/drawingml/2006/main">
              <a:ext uri="{FF2B5EF4-FFF2-40B4-BE49-F238E27FC236}">
                <a16:creationId xmlns:a16="http://schemas.microsoft.com/office/drawing/2014/main" id="{5763E2DE-12EF-487A-9E62-3774271C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输入最终答案、判分或跳过；支持键盘快捷操作。</a:t>
            </a:r>
          </a:p>
        </p:txBody>
      </p:sp>
      <p:sp>
        <p:nvSpPr>
          <p:cNvPr id="10" name="at">
            <a:extLst xmlns:a="http://schemas.openxmlformats.org/drawingml/2006/main">
              <a:ext uri="{FF2B5EF4-FFF2-40B4-BE49-F238E27FC236}">
                <a16:creationId xmlns:a16="http://schemas.microsoft.com/office/drawing/2014/main" id="{931498FD-2F19-49CB-98D2-463C07F7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244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9455"/>
                </a:solidFill>
              </a:defRPr>
            </a:pPr>
            <a:r>
              <a:rPr sz="1800" b="1">
                <a:solidFill>
                  <a:srgbClr val="079455"/>
                </a:solidFill>
              </a:rPr>
              <a:t>核对后</a:t>
            </a:r>
          </a:p>
        </p:txBody>
      </p:sp>
      <p:sp>
        <p:nvSpPr>
          <p:cNvPr id="11" name="ac">
            <a:extLst xmlns:a="http://schemas.openxmlformats.org/drawingml/2006/main">
              <a:ext uri="{FF2B5EF4-FFF2-40B4-BE49-F238E27FC236}">
                <a16:creationId xmlns:a16="http://schemas.microsoft.com/office/drawing/2014/main" id="{ED1B25E6-87E7-4CEC-AD50-4898A76E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62550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官方答案、原版解析、做对/重练和 AI 精讲紧密衔接。</a:t>
            </a:r>
          </a:p>
        </p:txBody>
      </p:sp>
    </p:spTree>
    <p:extLst>
      <p:ext uri="{BB962C8B-B14F-4D97-AF65-F5344CB8AC3E}">
        <p14:creationId xmlns:p14="http://schemas.microsoft.com/office/powerpoint/2010/main" val="1626947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6">
            <a:extLst xmlns:a="http://schemas.openxmlformats.org/drawingml/2006/main">
              <a:ext uri="{FF2B5EF4-FFF2-40B4-BE49-F238E27FC236}">
                <a16:creationId xmlns:a16="http://schemas.microsoft.com/office/drawing/2014/main" id="{B847F93B-7F74-4BE9-8944-F1F98DDB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Q3 智能备考系统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BB7D24D-986B-44ED-9AA9-DA66DC1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AI 精讲输出的是完整教学结构，不是裸 JSON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DDCB365-0E2E-4B09-A07B-4DE2C1C8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4" name="ai-frame">
            <a:extLst xmlns:a="http://schemas.openxmlformats.org/drawingml/2006/main">
              <a:ext uri="{FF2B5EF4-FFF2-40B4-BE49-F238E27FC236}">
                <a16:creationId xmlns:a16="http://schemas.microsoft.com/office/drawing/2014/main" id="{11A10535-2F26-4693-BBE6-601F8C64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7372350" cy="4533900"/>
          </a:xfrm>
          <a:prstGeom xmlns:a="http://schemas.openxmlformats.org/drawingml/2006/main" prst="roundRect">
            <a:avLst>
              <a:gd name="adj" fmla="val 2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63a22249a46fd"/>
          <a:srcRect xmlns:a="http://schemas.openxmlformats.org/drawingml/2006/main" l="4094" t="0" r="40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371600"/>
            <a:ext cx="7334250" cy="4495800"/>
          </a:xfrm>
          <a:prstGeom xmlns:a="http://schemas.openxmlformats.org/drawingml/2006/main" prst="roundRect">
            <a:avLst>
              <a:gd name="adj" fmla="val 2119"/>
            </a:avLst>
          </a:prstGeom>
        </p:spPr>
      </p:pic>
      <p:sp>
        <p:nvSpPr>
          <p:cNvPr id="6" name="l0-bar">
            <a:extLst xmlns:a="http://schemas.openxmlformats.org/drawingml/2006/main">
              <a:ext uri="{FF2B5EF4-FFF2-40B4-BE49-F238E27FC236}">
                <a16:creationId xmlns:a16="http://schemas.microsoft.com/office/drawing/2014/main" id="{48DAFC7E-DE64-4907-B4EB-E26282EF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954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0">
            <a:extLst xmlns:a="http://schemas.openxmlformats.org/drawingml/2006/main">
              <a:ext uri="{FF2B5EF4-FFF2-40B4-BE49-F238E27FC236}">
                <a16:creationId xmlns:a16="http://schemas.microsoft.com/office/drawing/2014/main" id="{B8A2232A-F6D7-45C0-9066-4AAE716A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859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核心思路</a:t>
            </a:r>
          </a:p>
        </p:txBody>
      </p:sp>
      <p:sp>
        <p:nvSpPr>
          <p:cNvPr id="8" name="lc0">
            <a:extLst xmlns:a="http://schemas.openxmlformats.org/drawingml/2006/main">
              <a:ext uri="{FF2B5EF4-FFF2-40B4-BE49-F238E27FC236}">
                <a16:creationId xmlns:a16="http://schemas.microsoft.com/office/drawing/2014/main" id="{6317CE79-F0EE-448E-95A9-1CFB31E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先说明模型与突破口</a:t>
            </a:r>
          </a:p>
        </p:txBody>
      </p:sp>
      <p:sp>
        <p:nvSpPr>
          <p:cNvPr id="9" name="l1-bar">
            <a:extLst xmlns:a="http://schemas.openxmlformats.org/drawingml/2006/main">
              <a:ext uri="{FF2B5EF4-FFF2-40B4-BE49-F238E27FC236}">
                <a16:creationId xmlns:a16="http://schemas.microsoft.com/office/drawing/2014/main" id="{A9F36B07-532B-4713-A49D-4E8D984B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1">
            <a:extLst xmlns:a="http://schemas.openxmlformats.org/drawingml/2006/main">
              <a:ext uri="{FF2B5EF4-FFF2-40B4-BE49-F238E27FC236}">
                <a16:creationId xmlns:a16="http://schemas.microsoft.com/office/drawing/2014/main" id="{D31DFAF4-6311-4E7A-B086-06F05D39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分步推理</a:t>
            </a:r>
          </a:p>
        </p:txBody>
      </p:sp>
      <p:sp>
        <p:nvSpPr>
          <p:cNvPr id="11" name="lc1">
            <a:extLst xmlns:a="http://schemas.openxmlformats.org/drawingml/2006/main">
              <a:ext uri="{FF2B5EF4-FFF2-40B4-BE49-F238E27FC236}">
                <a16:creationId xmlns:a16="http://schemas.microsoft.com/office/drawing/2014/main" id="{B20864FC-9B07-4D1B-A928-B2F26EC1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不少于 3 步，并写清理由</a:t>
            </a:r>
          </a:p>
        </p:txBody>
      </p:sp>
      <p:sp>
        <p:nvSpPr>
          <p:cNvPr id="12" name="l2-bar">
            <a:extLst xmlns:a="http://schemas.openxmlformats.org/drawingml/2006/main">
              <a:ext uri="{FF2B5EF4-FFF2-40B4-BE49-F238E27FC236}">
                <a16:creationId xmlns:a16="http://schemas.microsoft.com/office/drawing/2014/main" id="{5527C6FE-D07C-43FE-A86A-9C79CB8C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290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2">
            <a:extLst xmlns:a="http://schemas.openxmlformats.org/drawingml/2006/main">
              <a:ext uri="{FF2B5EF4-FFF2-40B4-BE49-F238E27FC236}">
                <a16:creationId xmlns:a16="http://schemas.microsoft.com/office/drawing/2014/main" id="{32BB36A6-F79D-424A-B317-E06ED9D1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195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9455"/>
                </a:solidFill>
              </a:defRPr>
            </a:pPr>
            <a:r>
              <a:rPr sz="1425" b="1">
                <a:solidFill>
                  <a:srgbClr val="079455"/>
                </a:solidFill>
              </a:rPr>
              <a:t>最终答案</a:t>
            </a:r>
          </a:p>
        </p:txBody>
      </p:sp>
      <p:sp>
        <p:nvSpPr>
          <p:cNvPr id="14" name="lc2">
            <a:extLst xmlns:a="http://schemas.openxmlformats.org/drawingml/2006/main">
              <a:ext uri="{FF2B5EF4-FFF2-40B4-BE49-F238E27FC236}">
                <a16:creationId xmlns:a16="http://schemas.microsoft.com/office/drawing/2014/main" id="{80316D60-BD01-4552-83A0-E3CD68BB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单独呈现，便于核对</a:t>
            </a:r>
          </a:p>
        </p:txBody>
      </p:sp>
      <p:sp>
        <p:nvSpPr>
          <p:cNvPr id="15" name="l3-bar">
            <a:extLst xmlns:a="http://schemas.openxmlformats.org/drawingml/2006/main">
              <a:ext uri="{FF2B5EF4-FFF2-40B4-BE49-F238E27FC236}">
                <a16:creationId xmlns:a16="http://schemas.microsoft.com/office/drawing/2014/main" id="{CAA3CF38-D472-4C4F-9BF1-586303EF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958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3">
            <a:extLst xmlns:a="http://schemas.openxmlformats.org/drawingml/2006/main">
              <a:ext uri="{FF2B5EF4-FFF2-40B4-BE49-F238E27FC236}">
                <a16:creationId xmlns:a16="http://schemas.microsoft.com/office/drawing/2014/main" id="{C3068F0B-53CC-4737-A87B-91AE0307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863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9009"/>
                </a:solidFill>
              </a:defRPr>
            </a:pPr>
            <a:r>
              <a:rPr sz="1425" b="1">
                <a:solidFill>
                  <a:srgbClr val="F79009"/>
                </a:solidFill>
              </a:rPr>
              <a:t>教学避坑</a:t>
            </a:r>
          </a:p>
        </p:txBody>
      </p:sp>
      <p:sp>
        <p:nvSpPr>
          <p:cNvPr id="17" name="lc3">
            <a:extLst xmlns:a="http://schemas.openxmlformats.org/drawingml/2006/main">
              <a:ext uri="{FF2B5EF4-FFF2-40B4-BE49-F238E27FC236}">
                <a16:creationId xmlns:a16="http://schemas.microsoft.com/office/drawing/2014/main" id="{6EBB248D-672A-410D-9945-C4669135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863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提示常见误区与纠正方法</a:t>
            </a:r>
          </a:p>
        </p:txBody>
      </p:sp>
      <p:sp>
        <p:nvSpPr>
          <p:cNvPr id="18" name="foot">
            <a:extLst xmlns:a="http://schemas.openxmlformats.org/drawingml/2006/main">
              <a:ext uri="{FF2B5EF4-FFF2-40B4-BE49-F238E27FC236}">
                <a16:creationId xmlns:a16="http://schemas.microsoft.com/office/drawing/2014/main" id="{8E525227-34C0-4E89-BAD2-74FFE6E7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视觉题、超时、空响应、重复字段和答案冲突都有回退与清洗。</a:t>
            </a:r>
          </a:p>
        </p:txBody>
      </p:sp>
    </p:spTree>
    <p:extLst>
      <p:ext uri="{BB962C8B-B14F-4D97-AF65-F5344CB8AC3E}">
        <p14:creationId xmlns:p14="http://schemas.microsoft.com/office/powerpoint/2010/main" val="10493059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7">
            <a:extLst xmlns:a="http://schemas.openxmlformats.org/drawingml/2006/main">
              <a:ext uri="{FF2B5EF4-FFF2-40B4-BE49-F238E27FC236}">
                <a16:creationId xmlns:a16="http://schemas.microsoft.com/office/drawing/2014/main" id="{162A1584-B1EC-4312-A8EF-23CCE7B1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Q3 智能备考系统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8BDEC59-E617-4827-9846-15E33236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做错并不是结束，系统会按遗忘曲线安排重练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091B790-AC37-4C8C-9B37-F1995992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4" name="err-frame">
            <a:extLst xmlns:a="http://schemas.openxmlformats.org/drawingml/2006/main">
              <a:ext uri="{FF2B5EF4-FFF2-40B4-BE49-F238E27FC236}">
                <a16:creationId xmlns:a16="http://schemas.microsoft.com/office/drawing/2014/main" id="{503FAADE-B6C4-4AF2-BC04-151158F2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7277100" cy="4152900"/>
          </a:xfrm>
          <a:prstGeom xmlns:a="http://schemas.openxmlformats.org/drawingml/2006/main" prst="roundRect">
            <a:avLst>
              <a:gd name="adj" fmla="val 2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ce400d7e24162"/>
          <a:srcRect xmlns:a="http://schemas.openxmlformats.org/drawingml/2006/main" l="495" t="0" r="4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28750"/>
            <a:ext cx="7239000" cy="4114800"/>
          </a:xfrm>
          <a:prstGeom xmlns:a="http://schemas.openxmlformats.org/drawingml/2006/main" prst="roundRect">
            <a:avLst>
              <a:gd name="adj" fmla="val 2315"/>
            </a:avLst>
          </a:prstGeom>
        </p:spPr>
      </p:pic>
      <p:sp>
        <p:nvSpPr>
          <p:cNvPr id="6" name="cycle">
            <a:extLst xmlns:a="http://schemas.openxmlformats.org/drawingml/2006/main">
              <a:ext uri="{FF2B5EF4-FFF2-40B4-BE49-F238E27FC236}">
                <a16:creationId xmlns:a16="http://schemas.microsoft.com/office/drawing/2014/main" id="{12386249-138F-4570-ADD0-2A5A4E2A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716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1–2–4–7–15 天</a:t>
            </a:r>
          </a:p>
        </p:txBody>
      </p:sp>
      <p:sp>
        <p:nvSpPr>
          <p:cNvPr id="7" name="cyc">
            <a:extLst xmlns:a="http://schemas.openxmlformats.org/drawingml/2006/main">
              <a:ext uri="{FF2B5EF4-FFF2-40B4-BE49-F238E27FC236}">
                <a16:creationId xmlns:a16="http://schemas.microsoft.com/office/drawing/2014/main" id="{EE82A1FF-CE88-4AB2-A6E0-0714D2A5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根据答题结果动态安排复习，而不是固定抄错题。</a:t>
            </a:r>
          </a:p>
        </p:txBody>
      </p:sp>
      <p:sp>
        <p:nvSpPr>
          <p:cNvPr id="8" name="tabs-bar">
            <a:extLst xmlns:a="http://schemas.openxmlformats.org/drawingml/2006/main">
              <a:ext uri="{FF2B5EF4-FFF2-40B4-BE49-F238E27FC236}">
                <a16:creationId xmlns:a16="http://schemas.microsoft.com/office/drawing/2014/main" id="{C8350A4C-CE23-4439-9CA4-00180727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7667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bs">
            <a:extLst xmlns:a="http://schemas.openxmlformats.org/drawingml/2006/main">
              <a:ext uri="{FF2B5EF4-FFF2-40B4-BE49-F238E27FC236}">
                <a16:creationId xmlns:a16="http://schemas.microsoft.com/office/drawing/2014/main" id="{3EB5AC2C-C8D3-4FAE-9118-A53A1ACA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71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9455"/>
                </a:solidFill>
              </a:defRPr>
            </a:pPr>
            <a:r>
              <a:rPr sz="1425" b="1">
                <a:solidFill>
                  <a:srgbClr val="079455"/>
                </a:solidFill>
              </a:rPr>
              <a:t>三种视图</a:t>
            </a:r>
          </a:p>
        </p:txBody>
      </p:sp>
      <p:sp>
        <p:nvSpPr>
          <p:cNvPr id="10" name="tabc">
            <a:extLst xmlns:a="http://schemas.openxmlformats.org/drawingml/2006/main">
              <a:ext uri="{FF2B5EF4-FFF2-40B4-BE49-F238E27FC236}">
                <a16:creationId xmlns:a16="http://schemas.microsoft.com/office/drawing/2014/main" id="{6ACD9753-BC70-4854-9BAF-5DE5F67B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05300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今日待复习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全部错题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已斩获题目</a:t>
            </a:r>
          </a:p>
        </p:txBody>
      </p:sp>
      <p:sp>
        <p:nvSpPr>
          <p:cNvPr id="11" name="ef">
            <a:extLst xmlns:a="http://schemas.openxmlformats.org/drawingml/2006/main">
              <a:ext uri="{FF2B5EF4-FFF2-40B4-BE49-F238E27FC236}">
                <a16:creationId xmlns:a16="http://schemas.microsoft.com/office/drawing/2014/main" id="{ACBE047F-65C2-4DAF-A831-974D3ED5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每次重练结果继续写回个人记录与团队统计。</a:t>
            </a:r>
          </a:p>
        </p:txBody>
      </p:sp>
    </p:spTree>
    <p:extLst>
      <p:ext uri="{BB962C8B-B14F-4D97-AF65-F5344CB8AC3E}">
        <p14:creationId xmlns:p14="http://schemas.microsoft.com/office/powerpoint/2010/main" val="17409394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8">
            <a:extLst xmlns:a="http://schemas.openxmlformats.org/drawingml/2006/main">
              <a:ext uri="{FF2B5EF4-FFF2-40B4-BE49-F238E27FC236}">
                <a16:creationId xmlns:a16="http://schemas.microsoft.com/office/drawing/2014/main" id="{6D2573DC-4FE3-42E6-8CFB-C42905D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Q3 智能备考系统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06BC2E0-1C3E-47E3-8233-76345244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纸卷成绩既能 1 秒勾选，也能拍照识别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20A71A24-1FEF-4E68-B03D-E67D008D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4" name="matrix-frame">
            <a:extLst xmlns:a="http://schemas.openxmlformats.org/drawingml/2006/main">
              <a:ext uri="{FF2B5EF4-FFF2-40B4-BE49-F238E27FC236}">
                <a16:creationId xmlns:a16="http://schemas.microsoft.com/office/drawing/2014/main" id="{9F71CEA7-B1B1-463B-85CC-6D640674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5353050" cy="3028950"/>
          </a:xfrm>
          <a:prstGeom xmlns:a="http://schemas.openxmlformats.org/drawingml/2006/main" prst="roundRect">
            <a:avLst>
              <a:gd name="adj" fmla="val 3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b2ced059b4852"/>
          <a:srcRect xmlns:a="http://schemas.openxmlformats.org/drawingml/2006/main" l="0" t="6" r="0" b="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09700"/>
            <a:ext cx="5314950" cy="2990850"/>
          </a:xfrm>
          <a:prstGeom xmlns:a="http://schemas.openxmlformats.org/drawingml/2006/main" prst="roundRect">
            <a:avLst>
              <a:gd name="adj" fmla="val 3185"/>
            </a:avLst>
          </a:prstGeom>
        </p:spPr>
      </p:pic>
      <p:sp>
        <p:nvSpPr>
          <p:cNvPr id="6" name="ocr-frame">
            <a:extLst xmlns:a="http://schemas.openxmlformats.org/drawingml/2006/main">
              <a:ext uri="{FF2B5EF4-FFF2-40B4-BE49-F238E27FC236}">
                <a16:creationId xmlns:a16="http://schemas.microsoft.com/office/drawing/2014/main" id="{9540BF76-0AA5-4CB7-BB67-007BAAF4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90650"/>
            <a:ext cx="5353050" cy="3028950"/>
          </a:xfrm>
          <a:prstGeom xmlns:a="http://schemas.openxmlformats.org/drawingml/2006/main" prst="roundRect">
            <a:avLst>
              <a:gd name="adj" fmla="val 3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88cb431274b5a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409700"/>
            <a:ext cx="5314950" cy="2990850"/>
          </a:xfrm>
          <a:prstGeom xmlns:a="http://schemas.openxmlformats.org/drawingml/2006/main" prst="roundRect">
            <a:avLst>
              <a:gd name="adj" fmla="val 3185"/>
            </a:avLst>
          </a:prstGeom>
        </p:spPr>
      </p:pic>
      <p:sp>
        <p:nvSpPr>
          <p:cNvPr id="8" name="mt">
            <a:extLst xmlns:a="http://schemas.openxmlformats.org/drawingml/2006/main">
              <a:ext uri="{FF2B5EF4-FFF2-40B4-BE49-F238E27FC236}">
                <a16:creationId xmlns:a16="http://schemas.microsoft.com/office/drawing/2014/main" id="{EE18661C-4316-401A-A0F2-23F3DF85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矩阵极速勾选</a:t>
            </a:r>
          </a:p>
        </p:txBody>
      </p:sp>
      <p:sp>
        <p:nvSpPr>
          <p:cNvPr id="9" name="mc">
            <a:extLst xmlns:a="http://schemas.openxmlformats.org/drawingml/2006/main">
              <a:ext uri="{FF2B5EF4-FFF2-40B4-BE49-F238E27FC236}">
                <a16:creationId xmlns:a16="http://schemas.microsoft.com/office/drawing/2014/main" id="{50ABD3E6-EBB7-48F9-89FA-F2DFD041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按讲次批量标记正确、错题和未作答，保存后同步云端。</a:t>
            </a:r>
          </a:p>
        </p:txBody>
      </p:sp>
      <p:sp>
        <p:nvSpPr>
          <p:cNvPr id="10" name="ot">
            <a:extLst xmlns:a="http://schemas.openxmlformats.org/drawingml/2006/main">
              <a:ext uri="{FF2B5EF4-FFF2-40B4-BE49-F238E27FC236}">
                <a16:creationId xmlns:a16="http://schemas.microsoft.com/office/drawing/2014/main" id="{73FCCB6D-4C17-41E8-AB05-14A8224D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43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9455"/>
                </a:solidFill>
              </a:defRPr>
            </a:pPr>
            <a:r>
              <a:rPr sz="1875" b="1">
                <a:solidFill>
                  <a:srgbClr val="079455"/>
                </a:solidFill>
              </a:rPr>
              <a:t>AI 拍照判卷</a:t>
            </a:r>
          </a:p>
        </p:txBody>
      </p:sp>
      <p:sp>
        <p:nvSpPr>
          <p:cNvPr id="11" name="oc">
            <a:extLst xmlns:a="http://schemas.openxmlformats.org/drawingml/2006/main">
              <a:ext uri="{FF2B5EF4-FFF2-40B4-BE49-F238E27FC236}">
                <a16:creationId xmlns:a16="http://schemas.microsoft.com/office/drawing/2014/main" id="{E021095A-1947-4B64-A376-3F3AF0F7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00650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上传或拍摄纸卷，识别题号与状态，再由老师确认。</a:t>
            </a:r>
          </a:p>
        </p:txBody>
      </p:sp>
    </p:spTree>
    <p:extLst>
      <p:ext uri="{BB962C8B-B14F-4D97-AF65-F5344CB8AC3E}">
        <p14:creationId xmlns:p14="http://schemas.microsoft.com/office/powerpoint/2010/main" val="8176918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9">
            <a:extLst xmlns:a="http://schemas.openxmlformats.org/drawingml/2006/main">
              <a:ext uri="{FF2B5EF4-FFF2-40B4-BE49-F238E27FC236}">
                <a16:creationId xmlns:a16="http://schemas.microsoft.com/office/drawing/2014/main" id="{EF6345F9-F5A5-43D6-8A86-AD9444B9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Q3 智能备考系统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AF82E1C-8DF7-463F-ADFA-46678B82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从筛题到标准试卷，组卷过程全程可见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37A24F0E-B887-4FFE-BB12-A62C23F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4" name="set-frame">
            <a:extLst xmlns:a="http://schemas.openxmlformats.org/drawingml/2006/main">
              <a:ext uri="{FF2B5EF4-FFF2-40B4-BE49-F238E27FC236}">
                <a16:creationId xmlns:a16="http://schemas.microsoft.com/office/drawing/2014/main" id="{075A585D-7124-4C14-99E3-F561F379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4895850" cy="3600450"/>
          </a:xfrm>
          <a:prstGeom xmlns:a="http://schemas.openxmlformats.org/drawingml/2006/main" prst="roundRect">
            <a:avLst>
              <a:gd name="adj" fmla="val 26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7c6c74b224e38"/>
          <a:srcRect xmlns:a="http://schemas.openxmlformats.org/drawingml/2006/main" l="0" t="3112" r="0" b="3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09700"/>
            <a:ext cx="4857750" cy="3562350"/>
          </a:xfrm>
          <a:prstGeom xmlns:a="http://schemas.openxmlformats.org/drawingml/2006/main" prst="roundRect">
            <a:avLst>
              <a:gd name="adj" fmla="val 2674"/>
            </a:avLst>
          </a:prstGeom>
        </p:spPr>
      </p:pic>
      <p:sp>
        <p:nvSpPr>
          <p:cNvPr id="6" name="prev-frame">
            <a:extLst xmlns:a="http://schemas.openxmlformats.org/drawingml/2006/main">
              <a:ext uri="{FF2B5EF4-FFF2-40B4-BE49-F238E27FC236}">
                <a16:creationId xmlns:a16="http://schemas.microsoft.com/office/drawing/2014/main" id="{A1CE8039-E7F5-4F38-BE26-58328FFA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90650"/>
            <a:ext cx="5924550" cy="3600450"/>
          </a:xfrm>
          <a:prstGeom xmlns:a="http://schemas.openxmlformats.org/drawingml/2006/main" prst="roundRect">
            <a:avLst>
              <a:gd name="adj" fmla="val 26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8c6573c05480e"/>
          <a:srcRect xmlns:a="http://schemas.openxmlformats.org/drawingml/2006/main" l="3502" t="0" r="35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1409700"/>
            <a:ext cx="5886450" cy="3562350"/>
          </a:xfrm>
          <a:prstGeom xmlns:a="http://schemas.openxmlformats.org/drawingml/2006/main" prst="roundRect">
            <a:avLst>
              <a:gd name="adj" fmla="val 2674"/>
            </a:avLst>
          </a:prstGeom>
        </p:spPr>
      </p:pic>
      <p:sp>
        <p:nvSpPr>
          <p:cNvPr id="8" name="setc">
            <a:extLst xmlns:a="http://schemas.openxmlformats.org/drawingml/2006/main">
              <a:ext uri="{FF2B5EF4-FFF2-40B4-BE49-F238E27FC236}">
                <a16:creationId xmlns:a16="http://schemas.microsoft.com/office/drawing/2014/main" id="{3C785F62-FBA3-4643-8DE3-A63C693D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年级、模块、篇章、题量、满分和时长可组合筛选。</a:t>
            </a:r>
          </a:p>
        </p:txBody>
      </p:sp>
      <p:sp>
        <p:nvSpPr>
          <p:cNvPr id="9" name="prevc">
            <a:extLst xmlns:a="http://schemas.openxmlformats.org/drawingml/2006/main">
              <a:ext uri="{FF2B5EF4-FFF2-40B4-BE49-F238E27FC236}">
                <a16:creationId xmlns:a16="http://schemas.microsoft.com/office/drawing/2014/main" id="{29D17C17-01F5-4417-91E1-B81E5635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768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题目、答题区、分值和参考答案按标准 A4 结构自动排版。</a:t>
            </a:r>
          </a:p>
        </p:txBody>
      </p:sp>
    </p:spTree>
    <p:extLst>
      <p:ext uri="{BB962C8B-B14F-4D97-AF65-F5344CB8AC3E}">
        <p14:creationId xmlns:p14="http://schemas.microsoft.com/office/powerpoint/2010/main" val="20473910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10">
            <a:extLst xmlns:a="http://schemas.openxmlformats.org/drawingml/2006/main">
              <a:ext uri="{FF2B5EF4-FFF2-40B4-BE49-F238E27FC236}">
                <a16:creationId xmlns:a16="http://schemas.microsoft.com/office/drawing/2014/main" id="{CB614F28-8AEE-4699-9285-02B66877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Q3 智能备考系统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D07E4EC1-5F6F-4319-8E55-13F25603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同一份试卷，可以打印、存 PDF、存长图或直接分享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10D228E1-2F47-414D-BBA7-CE57B62D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4" name="share-frame">
            <a:extLst xmlns:a="http://schemas.openxmlformats.org/drawingml/2006/main">
              <a:ext uri="{FF2B5EF4-FFF2-40B4-BE49-F238E27FC236}">
                <a16:creationId xmlns:a16="http://schemas.microsoft.com/office/drawing/2014/main" id="{ED08B9A1-3730-44C2-8A5E-C9F6210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7181850" cy="4533900"/>
          </a:xfrm>
          <a:prstGeom xmlns:a="http://schemas.openxmlformats.org/drawingml/2006/main" prst="roundRect">
            <a:avLst>
              <a:gd name="adj" fmla="val 2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54f7c40ec4453"/>
          <a:srcRect xmlns:a="http://schemas.openxmlformats.org/drawingml/2006/main" l="5286" t="0" r="5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09700"/>
            <a:ext cx="7143750" cy="4495800"/>
          </a:xfrm>
          <a:prstGeom xmlns:a="http://schemas.openxmlformats.org/drawingml/2006/main" prst="roundRect">
            <a:avLst>
              <a:gd name="adj" fmla="val 2119"/>
            </a:avLst>
          </a:prstGeom>
        </p:spPr>
      </p:pic>
      <p:sp>
        <p:nvSpPr>
          <p:cNvPr id="6" name="en0">
            <a:extLst xmlns:a="http://schemas.openxmlformats.org/drawingml/2006/main">
              <a:ext uri="{FF2B5EF4-FFF2-40B4-BE49-F238E27FC236}">
                <a16:creationId xmlns:a16="http://schemas.microsoft.com/office/drawing/2014/main" id="{7B03FECE-371C-4F74-A757-557F336C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et0">
            <a:extLst xmlns:a="http://schemas.openxmlformats.org/drawingml/2006/main">
              <a:ext uri="{FF2B5EF4-FFF2-40B4-BE49-F238E27FC236}">
                <a16:creationId xmlns:a16="http://schemas.microsoft.com/office/drawing/2014/main" id="{CE08507A-9258-4C75-9F11-D75416F2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097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A4 PDF</a:t>
            </a:r>
          </a:p>
        </p:txBody>
      </p:sp>
      <p:sp>
        <p:nvSpPr>
          <p:cNvPr id="8" name="ec0">
            <a:extLst xmlns:a="http://schemas.openxmlformats.org/drawingml/2006/main">
              <a:ext uri="{FF2B5EF4-FFF2-40B4-BE49-F238E27FC236}">
                <a16:creationId xmlns:a16="http://schemas.microsoft.com/office/drawing/2014/main" id="{C9EC00C4-BCF7-4B1E-A52B-3403A32A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直接打印或归档</a:t>
            </a:r>
          </a:p>
        </p:txBody>
      </p:sp>
      <p:sp>
        <p:nvSpPr>
          <p:cNvPr id="9" name="en1">
            <a:extLst xmlns:a="http://schemas.openxmlformats.org/drawingml/2006/main">
              <a:ext uri="{FF2B5EF4-FFF2-40B4-BE49-F238E27FC236}">
                <a16:creationId xmlns:a16="http://schemas.microsoft.com/office/drawing/2014/main" id="{B6A9505E-77BC-4104-94F6-66CF1139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05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et1">
            <a:extLst xmlns:a="http://schemas.openxmlformats.org/drawingml/2006/main">
              <a:ext uri="{FF2B5EF4-FFF2-40B4-BE49-F238E27FC236}">
                <a16:creationId xmlns:a16="http://schemas.microsoft.com/office/drawing/2014/main" id="{66D67E63-3A93-4032-ACB0-94C17C48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860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一张高清长图</a:t>
            </a:r>
          </a:p>
        </p:txBody>
      </p:sp>
      <p:sp>
        <p:nvSpPr>
          <p:cNvPr id="11" name="ec1">
            <a:extLst xmlns:a="http://schemas.openxmlformats.org/drawingml/2006/main">
              <a:ext uri="{FF2B5EF4-FFF2-40B4-BE49-F238E27FC236}">
                <a16:creationId xmlns:a16="http://schemas.microsoft.com/office/drawing/2014/main" id="{BFCDB74D-3BBA-443D-8F6D-35E457BF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整卷纵向拼成单张图片</a:t>
            </a:r>
          </a:p>
        </p:txBody>
      </p:sp>
      <p:sp>
        <p:nvSpPr>
          <p:cNvPr id="12" name="en2">
            <a:extLst xmlns:a="http://schemas.openxmlformats.org/drawingml/2006/main">
              <a:ext uri="{FF2B5EF4-FFF2-40B4-BE49-F238E27FC236}">
                <a16:creationId xmlns:a16="http://schemas.microsoft.com/office/drawing/2014/main" id="{44F93EBE-44DA-42B8-8DA1-24E44EAA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813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3" name="et2">
            <a:extLst xmlns:a="http://schemas.openxmlformats.org/drawingml/2006/main">
              <a:ext uri="{FF2B5EF4-FFF2-40B4-BE49-F238E27FC236}">
                <a16:creationId xmlns:a16="http://schemas.microsoft.com/office/drawing/2014/main" id="{1DEDAA4F-8CE8-4C0C-BDB8-9B6ECE3F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2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系统打印机</a:t>
            </a:r>
          </a:p>
        </p:txBody>
      </p:sp>
      <p:sp>
        <p:nvSpPr>
          <p:cNvPr id="14" name="ec2">
            <a:extLst xmlns:a="http://schemas.openxmlformats.org/drawingml/2006/main">
              <a:ext uri="{FF2B5EF4-FFF2-40B4-BE49-F238E27FC236}">
                <a16:creationId xmlns:a16="http://schemas.microsoft.com/office/drawing/2014/main" id="{F078344A-6B09-433E-9F42-841DE15F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052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桌面端直接调用打印</a:t>
            </a:r>
          </a:p>
        </p:txBody>
      </p:sp>
      <p:sp>
        <p:nvSpPr>
          <p:cNvPr id="15" name="en3">
            <a:extLst xmlns:a="http://schemas.openxmlformats.org/drawingml/2006/main">
              <a:ext uri="{FF2B5EF4-FFF2-40B4-BE49-F238E27FC236}">
                <a16:creationId xmlns:a16="http://schemas.microsoft.com/office/drawing/2014/main" id="{48075F56-BC48-4E24-92B4-CBDCEAE3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6" name="et3">
            <a:extLst xmlns:a="http://schemas.openxmlformats.org/drawingml/2006/main">
              <a:ext uri="{FF2B5EF4-FFF2-40B4-BE49-F238E27FC236}">
                <a16:creationId xmlns:a16="http://schemas.microsoft.com/office/drawing/2014/main" id="{89AC5DD4-49DD-458E-AAE4-7362D9A4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微信 / QQ / 同事</a:t>
            </a:r>
          </a:p>
        </p:txBody>
      </p:sp>
      <p:sp>
        <p:nvSpPr>
          <p:cNvPr id="17" name="ec3">
            <a:extLst xmlns:a="http://schemas.openxmlformats.org/drawingml/2006/main">
              <a:ext uri="{FF2B5EF4-FFF2-40B4-BE49-F238E27FC236}">
                <a16:creationId xmlns:a16="http://schemas.microsoft.com/office/drawing/2014/main" id="{A3A4EAF2-BCA9-4282-8DB9-3FC7C9FB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手机优先走原生分享</a:t>
            </a:r>
          </a:p>
        </p:txBody>
      </p:sp>
      <p:sp>
        <p:nvSpPr>
          <p:cNvPr id="18" name="en4">
            <a:extLst xmlns:a="http://schemas.openxmlformats.org/drawingml/2006/main">
              <a:ext uri="{FF2B5EF4-FFF2-40B4-BE49-F238E27FC236}">
                <a16:creationId xmlns:a16="http://schemas.microsoft.com/office/drawing/2014/main" id="{CEBC17A9-7699-490F-8A53-F578ECA5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339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9" name="et4">
            <a:extLst xmlns:a="http://schemas.openxmlformats.org/drawingml/2006/main">
              <a:ext uri="{FF2B5EF4-FFF2-40B4-BE49-F238E27FC236}">
                <a16:creationId xmlns:a16="http://schemas.microsoft.com/office/drawing/2014/main" id="{9C1BE7EC-0FE3-479E-A607-532EDD8A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149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整卷文字与答案卡</a:t>
            </a:r>
          </a:p>
        </p:txBody>
      </p:sp>
      <p:sp>
        <p:nvSpPr>
          <p:cNvPr id="20" name="ec4">
            <a:extLst xmlns:a="http://schemas.openxmlformats.org/drawingml/2006/main">
              <a:ext uri="{FF2B5EF4-FFF2-40B4-BE49-F238E27FC236}">
                <a16:creationId xmlns:a16="http://schemas.microsoft.com/office/drawing/2014/main" id="{6F397F89-F3CB-4EB0-B2A3-4F0CEFA1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578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复制到群聊或文档</a:t>
            </a:r>
          </a:p>
        </p:txBody>
      </p:sp>
    </p:spTree>
    <p:extLst>
      <p:ext uri="{BB962C8B-B14F-4D97-AF65-F5344CB8AC3E}">
        <p14:creationId xmlns:p14="http://schemas.microsoft.com/office/powerpoint/2010/main" val="14364897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11">
            <a:extLst xmlns:a="http://schemas.openxmlformats.org/drawingml/2006/main">
              <a:ext uri="{FF2B5EF4-FFF2-40B4-BE49-F238E27FC236}">
                <a16:creationId xmlns:a16="http://schemas.microsoft.com/office/drawing/2014/main" id="{7B20F865-CE85-45F0-96E7-F86EC561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Q3 智能备考系统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7F6E263B-ED01-44A1-917D-1C521788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个人数据汇总成团队学情，管理员负责成员与恢复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A3AFEE3E-D679-4AA1-ADE7-FADBBF6A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4" name="rank-frame">
            <a:extLst xmlns:a="http://schemas.openxmlformats.org/drawingml/2006/main">
              <a:ext uri="{FF2B5EF4-FFF2-40B4-BE49-F238E27FC236}">
                <a16:creationId xmlns:a16="http://schemas.microsoft.com/office/drawing/2014/main" id="{321C9E6E-0482-4E14-A9D4-865202A3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5353050" cy="3028950"/>
          </a:xfrm>
          <a:prstGeom xmlns:a="http://schemas.openxmlformats.org/drawingml/2006/main" prst="roundRect">
            <a:avLst>
              <a:gd name="adj" fmla="val 3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53d5a53984cf1"/>
          <a:srcRect xmlns:a="http://schemas.openxmlformats.org/drawingml/2006/main" l="0" t="6" r="0" b="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09700"/>
            <a:ext cx="5314950" cy="2990850"/>
          </a:xfrm>
          <a:prstGeom xmlns:a="http://schemas.openxmlformats.org/drawingml/2006/main" prst="roundRect">
            <a:avLst>
              <a:gd name="adj" fmla="val 3185"/>
            </a:avLst>
          </a:prstGeom>
        </p:spPr>
      </p:pic>
      <p:sp>
        <p:nvSpPr>
          <p:cNvPr id="6" name="members-frame">
            <a:extLst xmlns:a="http://schemas.openxmlformats.org/drawingml/2006/main">
              <a:ext uri="{FF2B5EF4-FFF2-40B4-BE49-F238E27FC236}">
                <a16:creationId xmlns:a16="http://schemas.microsoft.com/office/drawing/2014/main" id="{62A643B6-A3FC-4523-AB1C-B58A5751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90650"/>
            <a:ext cx="5353050" cy="3028950"/>
          </a:xfrm>
          <a:prstGeom xmlns:a="http://schemas.openxmlformats.org/drawingml/2006/main" prst="roundRect">
            <a:avLst>
              <a:gd name="adj" fmla="val 3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43ba33f3543b5"/>
          <a:srcRect xmlns:a="http://schemas.openxmlformats.org/drawingml/2006/main" l="0" t="6" r="0" b="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409700"/>
            <a:ext cx="5314950" cy="2990850"/>
          </a:xfrm>
          <a:prstGeom xmlns:a="http://schemas.openxmlformats.org/drawingml/2006/main" prst="roundRect">
            <a:avLst>
              <a:gd name="adj" fmla="val 3185"/>
            </a:avLst>
          </a:prstGeom>
        </p:spPr>
      </p:pic>
      <p:sp>
        <p:nvSpPr>
          <p:cNvPr id="8" name="rt">
            <a:extLst xmlns:a="http://schemas.openxmlformats.org/drawingml/2006/main">
              <a:ext uri="{FF2B5EF4-FFF2-40B4-BE49-F238E27FC236}">
                <a16:creationId xmlns:a16="http://schemas.microsoft.com/office/drawing/2014/main" id="{488535E6-A942-4EA1-BA6F-58522A75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团队学情</a:t>
            </a:r>
          </a:p>
        </p:txBody>
      </p:sp>
      <p:sp>
        <p:nvSpPr>
          <p:cNvPr id="9" name="rc">
            <a:extLst xmlns:a="http://schemas.openxmlformats.org/drawingml/2006/main">
              <a:ext uri="{FF2B5EF4-FFF2-40B4-BE49-F238E27FC236}">
                <a16:creationId xmlns:a16="http://schemas.microsoft.com/office/drawing/2014/main" id="{D0434ADD-309C-4CE6-BF0C-21FD4322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题量、完成率、正确率、连续打卡与最近活跃统一汇总。</a:t>
            </a:r>
          </a:p>
        </p:txBody>
      </p:sp>
      <p:sp>
        <p:nvSpPr>
          <p:cNvPr id="10" name="amt">
            <a:extLst xmlns:a="http://schemas.openxmlformats.org/drawingml/2006/main">
              <a:ext uri="{FF2B5EF4-FFF2-40B4-BE49-F238E27FC236}">
                <a16:creationId xmlns:a16="http://schemas.microsoft.com/office/drawing/2014/main" id="{0237EA92-D4F4-4AF9-8B1A-97C94302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244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9455"/>
                </a:solidFill>
              </a:defRPr>
            </a:pPr>
            <a:r>
              <a:rPr sz="1875" b="1">
                <a:solidFill>
                  <a:srgbClr val="079455"/>
                </a:solidFill>
              </a:rPr>
              <a:t>管理与恢复</a:t>
            </a:r>
          </a:p>
        </p:txBody>
      </p:sp>
      <p:sp>
        <p:nvSpPr>
          <p:cNvPr id="11" name="amc">
            <a:extLst xmlns:a="http://schemas.openxmlformats.org/drawingml/2006/main">
              <a:ext uri="{FF2B5EF4-FFF2-40B4-BE49-F238E27FC236}">
                <a16:creationId xmlns:a16="http://schemas.microsoft.com/office/drawing/2014/main" id="{20055C37-63DA-474E-A5E4-CF48F998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8160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新增成员、权限控制、密码重置、软删除和回收站恢复。</a:t>
            </a:r>
          </a:p>
        </p:txBody>
      </p:sp>
    </p:spTree>
    <p:extLst>
      <p:ext uri="{BB962C8B-B14F-4D97-AF65-F5344CB8AC3E}">
        <p14:creationId xmlns:p14="http://schemas.microsoft.com/office/powerpoint/2010/main" val="889245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12">
            <a:extLst xmlns:a="http://schemas.openxmlformats.org/drawingml/2006/main">
              <a:ext uri="{FF2B5EF4-FFF2-40B4-BE49-F238E27FC236}">
                <a16:creationId xmlns:a16="http://schemas.microsoft.com/office/drawing/2014/main" id="{D71D4C29-D669-4E85-A533-4F596CD8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Q3 智能备考系统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15CCE511-D979-4229-8168-BBC20D1F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网页、桌面与安卓端，共用同一条学习链路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D7B6B5F5-B7FA-4FA5-AD73-E82FABB7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4" name="mo0-frame">
            <a:extLst xmlns:a="http://schemas.openxmlformats.org/drawingml/2006/main">
              <a:ext uri="{FF2B5EF4-FFF2-40B4-BE49-F238E27FC236}">
                <a16:creationId xmlns:a16="http://schemas.microsoft.com/office/drawing/2014/main" id="{622EFBCE-EC78-4267-BD2A-A4F4569E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381250" cy="42100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249602e704841"/>
          <a:srcRect xmlns:a="http://schemas.openxmlformats.org/drawingml/2006/main" l="0" t="8805" r="0" b="88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71600"/>
            <a:ext cx="2343150" cy="41719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moc0">
            <a:extLst xmlns:a="http://schemas.openxmlformats.org/drawingml/2006/main">
              <a:ext uri="{FF2B5EF4-FFF2-40B4-BE49-F238E27FC236}">
                <a16:creationId xmlns:a16="http://schemas.microsoft.com/office/drawing/2014/main" id="{CC5E6816-C4FD-4C00-901B-881413C7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首页与进度</a:t>
            </a:r>
          </a:p>
        </p:txBody>
      </p:sp>
      <p:sp>
        <p:nvSpPr>
          <p:cNvPr id="7" name="mo1-frame">
            <a:extLst xmlns:a="http://schemas.openxmlformats.org/drawingml/2006/main">
              <a:ext uri="{FF2B5EF4-FFF2-40B4-BE49-F238E27FC236}">
                <a16:creationId xmlns:a16="http://schemas.microsoft.com/office/drawing/2014/main" id="{6DEE8951-30BF-41EB-9B59-F835F09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52550"/>
            <a:ext cx="2381250" cy="42100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0d171ee884e76"/>
          <a:srcRect xmlns:a="http://schemas.openxmlformats.org/drawingml/2006/main" l="0" t="8805" r="0" b="88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71600"/>
            <a:ext cx="2343150" cy="41719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9" name="moc1">
            <a:extLst xmlns:a="http://schemas.openxmlformats.org/drawingml/2006/main">
              <a:ext uri="{FF2B5EF4-FFF2-40B4-BE49-F238E27FC236}">
                <a16:creationId xmlns:a16="http://schemas.microsoft.com/office/drawing/2014/main" id="{4EBEEA43-40BB-4431-A57E-07379878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卡片刷题</a:t>
            </a:r>
          </a:p>
        </p:txBody>
      </p:sp>
      <p:sp>
        <p:nvSpPr>
          <p:cNvPr id="10" name="mo2-frame">
            <a:extLst xmlns:a="http://schemas.openxmlformats.org/drawingml/2006/main">
              <a:ext uri="{FF2B5EF4-FFF2-40B4-BE49-F238E27FC236}">
                <a16:creationId xmlns:a16="http://schemas.microsoft.com/office/drawing/2014/main" id="{721A5501-CC81-402A-9E18-93D58150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52550"/>
            <a:ext cx="2381250" cy="42100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20d8bbb7a4f08"/>
          <a:srcRect xmlns:a="http://schemas.openxmlformats.org/drawingml/2006/main" l="0" t="8805" r="0" b="88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371600"/>
            <a:ext cx="2343150" cy="41719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12" name="moc2">
            <a:extLst xmlns:a="http://schemas.openxmlformats.org/drawingml/2006/main">
              <a:ext uri="{FF2B5EF4-FFF2-40B4-BE49-F238E27FC236}">
                <a16:creationId xmlns:a16="http://schemas.microsoft.com/office/drawing/2014/main" id="{04D8C27B-B0DF-442D-92AA-0F306C06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102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结构化精讲</a:t>
            </a:r>
          </a:p>
        </p:txBody>
      </p:sp>
      <p:sp>
        <p:nvSpPr>
          <p:cNvPr id="13" name="close">
            <a:extLst xmlns:a="http://schemas.openxmlformats.org/drawingml/2006/main">
              <a:ext uri="{FF2B5EF4-FFF2-40B4-BE49-F238E27FC236}">
                <a16:creationId xmlns:a16="http://schemas.microsoft.com/office/drawing/2014/main" id="{F9DA35AF-01E7-47CE-83A6-BC84A72E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2667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t">
            <a:extLst xmlns:a="http://schemas.openxmlformats.org/drawingml/2006/main">
              <a:ext uri="{FF2B5EF4-FFF2-40B4-BE49-F238E27FC236}">
                <a16:creationId xmlns:a16="http://schemas.microsoft.com/office/drawing/2014/main" id="{D895BCF9-AB73-4F50-B46F-1E21F8DE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1930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已形成真实可用版本</a:t>
            </a:r>
          </a:p>
        </p:txBody>
      </p:sp>
      <p:sp>
        <p:nvSpPr>
          <p:cNvPr id="15" name="cc">
            <a:extLst xmlns:a="http://schemas.openxmlformats.org/drawingml/2006/main">
              <a:ext uri="{FF2B5EF4-FFF2-40B4-BE49-F238E27FC236}">
                <a16:creationId xmlns:a16="http://schemas.microsoft.com/office/drawing/2014/main" id="{726F033D-08E3-4ABE-83F0-E971E69F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48000"/>
            <a:ext cx="2095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479 道真题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15 讲章节导航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104 项自动化测试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安卓安装包已验证</a:t>
            </a:r>
          </a:p>
        </p:txBody>
      </p:sp>
      <p:sp>
        <p:nvSpPr>
          <p:cNvPr id="16" name="next">
            <a:extLst xmlns:a="http://schemas.openxmlformats.org/drawingml/2006/main">
              <a:ext uri="{FF2B5EF4-FFF2-40B4-BE49-F238E27FC236}">
                <a16:creationId xmlns:a16="http://schemas.microsoft.com/office/drawing/2014/main" id="{799B0527-03E3-4D7F-B8EE-A5C564D9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197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下一步：继续修复跨设备同步、自动 AI 生命周期与旧浏览器分享兼容。</a:t>
            </a:r>
          </a:p>
        </p:txBody>
      </p:sp>
    </p:spTree>
    <p:extLst>
      <p:ext uri="{BB962C8B-B14F-4D97-AF65-F5344CB8AC3E}">
        <p14:creationId xmlns:p14="http://schemas.microsoft.com/office/powerpoint/2010/main" val="561431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2026-08-16T20:26:25.2640000Z</dcterms:created>
  <dcterms:modified xsi:type="dcterms:W3CDTF">2026-08-16T20:26:25.2640000Z</dcterms:modified>
</coreProperties>
</file>