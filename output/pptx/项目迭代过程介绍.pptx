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db553d7c584401" /><Relationship Type="http://schemas.openxmlformats.org/officeDocument/2006/relationships/extended-properties" Target="/docProps/app.xml" Id="R13e70594c1c446e1" /><Relationship Type="http://schemas.openxmlformats.org/officeDocument/2006/relationships/officeDocument" Target="/ppt/presentation.xml" Id="R4cb6342fc2564d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6842ea198f458f"/>
  </p:sldMasterIdLst>
  <p:notesMasterIdLst>
    <p:notesMasterId xmlns:r="http://schemas.openxmlformats.org/officeDocument/2006/relationships" r:id="Rf0d6008c3618411d"/>
  </p:notesMasterIdLst>
  <p:sldIdLst>
    <p:sldId xmlns:r="http://schemas.openxmlformats.org/officeDocument/2006/relationships" id="256" r:id="Rca85ac02c6aa4d8b"/>
    <p:sldId xmlns:r="http://schemas.openxmlformats.org/officeDocument/2006/relationships" id="257" r:id="R7da3ab5d13864e7b"/>
    <p:sldId xmlns:r="http://schemas.openxmlformats.org/officeDocument/2006/relationships" id="258" r:id="Rc1b646d5da5e4a37"/>
    <p:sldId xmlns:r="http://schemas.openxmlformats.org/officeDocument/2006/relationships" id="259" r:id="R95280462a532444c"/>
    <p:sldId xmlns:r="http://schemas.openxmlformats.org/officeDocument/2006/relationships" id="260" r:id="Rd188b63de64e4e72"/>
    <p:sldId xmlns:r="http://schemas.openxmlformats.org/officeDocument/2006/relationships" id="261" r:id="R69b72f648bb748f8"/>
    <p:sldId xmlns:r="http://schemas.openxmlformats.org/officeDocument/2006/relationships" id="262" r:id="R128768f83c9042c7"/>
    <p:sldId xmlns:r="http://schemas.openxmlformats.org/officeDocument/2006/relationships" id="263" r:id="R7a8d0ffdc00f43a7"/>
    <p:sldId xmlns:r="http://schemas.openxmlformats.org/officeDocument/2006/relationships" id="264" r:id="R8e0016a1503d4f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09bc772a8e48f6" /><Relationship Type="http://schemas.openxmlformats.org/officeDocument/2006/relationships/slideMaster" Target="/ppt/slideMasters/slideMaster1.xml" Id="R5d6842ea198f458f" /><Relationship Type="http://schemas.openxmlformats.org/officeDocument/2006/relationships/notesMaster" Target="/ppt/notesMasters/notesMaster1.xml" Id="Rf0d6008c3618411d" /><Relationship Type="http://schemas.openxmlformats.org/officeDocument/2006/relationships/presProps" Target="/ppt/presProps.xml" Id="R38935b6d0e7f4ecf" /><Relationship Type="http://schemas.openxmlformats.org/officeDocument/2006/relationships/tableStyles" Target="/ppt/tableStyles.xml" Id="R29ab81676fde4e85" /><Relationship Type="http://schemas.openxmlformats.org/officeDocument/2006/relationships/slide" Target="/ppt/slides/slide1.xml" Id="Rca85ac02c6aa4d8b" /><Relationship Type="http://schemas.openxmlformats.org/officeDocument/2006/relationships/slide" Target="/ppt/slides/slide2.xml" Id="R7da3ab5d13864e7b" /><Relationship Type="http://schemas.openxmlformats.org/officeDocument/2006/relationships/slide" Target="/ppt/slides/slide3.xml" Id="Rc1b646d5da5e4a37" /><Relationship Type="http://schemas.openxmlformats.org/officeDocument/2006/relationships/slide" Target="/ppt/slides/slide4.xml" Id="R95280462a532444c" /><Relationship Type="http://schemas.openxmlformats.org/officeDocument/2006/relationships/slide" Target="/ppt/slides/slide5.xml" Id="Rd188b63de64e4e72" /><Relationship Type="http://schemas.openxmlformats.org/officeDocument/2006/relationships/slide" Target="/ppt/slides/slide6.xml" Id="R69b72f648bb748f8" /><Relationship Type="http://schemas.openxmlformats.org/officeDocument/2006/relationships/slide" Target="/ppt/slides/slide7.xml" Id="R128768f83c9042c7" /><Relationship Type="http://schemas.openxmlformats.org/officeDocument/2006/relationships/slide" Target="/ppt/slides/slide8.xml" Id="R7a8d0ffdc00f43a7" /><Relationship Type="http://schemas.openxmlformats.org/officeDocument/2006/relationships/slide" Target="/ppt/slides/slide9.xml" Id="R8e0016a1503d4f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1c017e24664e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1e19cfc4eb4900" /><Relationship Type="http://schemas.openxmlformats.org/officeDocument/2006/relationships/notesMaster" Target="/ppt/notesMasters/notesMaster1.xml" Id="R545bba5ebf6748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cbc8f217144e8b" /><Relationship Type="http://schemas.openxmlformats.org/officeDocument/2006/relationships/notesMaster" Target="/ppt/notesMasters/notesMaster1.xml" Id="Ra4920c13e17444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3e89da4a75440b" /><Relationship Type="http://schemas.openxmlformats.org/officeDocument/2006/relationships/notesMaster" Target="/ppt/notesMasters/notesMaster1.xml" Id="Re05386fd5c934d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032a78515348a9" /><Relationship Type="http://schemas.openxmlformats.org/officeDocument/2006/relationships/notesMaster" Target="/ppt/notesMasters/notesMaster1.xml" Id="R000e175306364e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39a2c225f240b2" /><Relationship Type="http://schemas.openxmlformats.org/officeDocument/2006/relationships/notesMaster" Target="/ppt/notesMasters/notesMaster1.xml" Id="Re428ad360d334b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967477ceef425b" /><Relationship Type="http://schemas.openxmlformats.org/officeDocument/2006/relationships/notesMaster" Target="/ppt/notesMasters/notesMaster1.xml" Id="R41788c88934243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eb90459db54d95" /><Relationship Type="http://schemas.openxmlformats.org/officeDocument/2006/relationships/notesMaster" Target="/ppt/notesMasters/notesMaster1.xml" Id="Rba9c6d72f1874c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69c773e3b949a0" /><Relationship Type="http://schemas.openxmlformats.org/officeDocument/2006/relationships/notesMaster" Target="/ppt/notesMasters/notesMaster1.xml" Id="Rd3359007bde949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1cf2ed61614ffb" /><Relationship Type="http://schemas.openxmlformats.org/officeDocument/2006/relationships/notesMaster" Target="/ppt/notesMasters/notesMaster1.xml" Id="R1e57ea6a4c9440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真实截图：card-drill.png、mobile-ai.png</a:t>
            </a:r>
          </a:p>
          <a:p xmlns:a="http://schemas.openxmlformats.org/drawingml/2006/main">
            <a:r>
              <a:t>- HANDOVER.md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用户截图：before-crosspage.png、before-half-answer.png、before-layout-error.png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真实截图：before-crosspage.png、card-drill.png</a:t>
            </a:r>
          </a:p>
          <a:p xmlns:a="http://schemas.openxmlformats.org/drawingml/2006/main">
            <a:r>
              <a:t>- 题库切片修复与应用页复核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用户反馈：JSON 字段外溢</a:t>
            </a:r>
          </a:p>
          <a:p xmlns:a="http://schemas.openxmlformats.org/drawingml/2006/main">
            <a:r>
              <a:t>- 真实截图：ai-tutor.png</a:t>
            </a:r>
          </a:p>
          <a:p xmlns:a="http://schemas.openxmlformats.org/drawingml/2006/main">
            <a:r>
              <a:t>- src/services/aiTutor.ts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用户截图：before-print-error.png</a:t>
            </a:r>
          </a:p>
          <a:p xmlns:a="http://schemas.openxmlformats.org/drawingml/2006/main">
            <a:r>
              <a:t>- 真实截图：paper-share.png</a:t>
            </a:r>
          </a:p>
          <a:p xmlns:a="http://schemas.openxmlformats.org/drawingml/2006/main">
            <a:r>
              <a:t>- paperPageRenderer.ts、fileDelivery.ts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真实截图：admin-members.png</a:t>
            </a:r>
          </a:p>
          <a:p xmlns:a="http://schemas.openxmlformats.org/drawingml/2006/main">
            <a:r>
              <a:t>- src/services/webdav.ts</a:t>
            </a:r>
          </a:p>
          <a:p xmlns:a="http://schemas.openxmlformats.org/drawingml/2006/main">
            <a:r>
              <a:t>- Bugbot 复核：个人记录仍需条件写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手机截图：mobile-home.png、mobile-drill.png、mobile-ai.png</a:t>
            </a:r>
          </a:p>
          <a:p xmlns:a="http://schemas.openxmlformats.org/drawingml/2006/main">
            <a:r>
              <a:t>- HANDOVER.md</a:t>
            </a:r>
          </a:p>
          <a:p xmlns:a="http://schemas.openxmlformats.org/drawingml/2006/main">
            <a:r>
              <a:t>- Bugbot：旧浏览器分享兼容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提交历史</a:t>
            </a:r>
          </a:p>
          <a:p xmlns:a="http://schemas.openxmlformats.org/drawingml/2006/main">
            <a:r>
              <a:t>- HANDOVER.md：测试、构建与 APK 验证</a:t>
            </a:r>
          </a:p>
          <a:p xmlns:a="http://schemas.openxmlformats.org/drawingml/2006/main">
            <a:r>
              <a:t>- Bugbot 复核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HANDOVER.md</a:t>
            </a:r>
          </a:p>
          <a:p xmlns:a="http://schemas.openxmlformats.org/drawingml/2006/main">
            <a:r>
              <a:t>- Bugbot：WebDAV 竞争、自动 AI 生命周期、旧浏览器分享兼容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cab7cb4cd4c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def6152db94818" /><Relationship Type="http://schemas.openxmlformats.org/officeDocument/2006/relationships/slideLayout" Target="/ppt/slideLayouts/slideLayout1.xml" Id="R503e78d6582a41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3e78d6582a41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b80e7f0404eb1" /><Relationship Type="http://schemas.openxmlformats.org/officeDocument/2006/relationships/image" Target="/ppt/media/image.jpeg" Id="Rb590406476464057" /><Relationship Type="http://schemas.openxmlformats.org/officeDocument/2006/relationships/image" Target="/ppt/media/image2.jpeg" Id="R3e060fae5c0245c6" /><Relationship Type="http://schemas.openxmlformats.org/officeDocument/2006/relationships/notesSlide" Target="/ppt/notesSlides/notesSlide1.xml" Id="Ree7686cacad040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10f693a7e4ffb" /><Relationship Type="http://schemas.openxmlformats.org/officeDocument/2006/relationships/image" Target="/ppt/media/image.png" Id="Re801c5d91c2e47a6" /><Relationship Type="http://schemas.openxmlformats.org/officeDocument/2006/relationships/image" Target="/ppt/media/image2.png" Id="R0aa285dadc1b4d87" /><Relationship Type="http://schemas.openxmlformats.org/officeDocument/2006/relationships/image" Target="/ppt/media/image3.png" Id="R80068f6e022b40c9" /><Relationship Type="http://schemas.openxmlformats.org/officeDocument/2006/relationships/notesSlide" Target="/ppt/notesSlides/notesSlide2.xml" Id="R49ddfc06da294d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f436b40eb4232" /><Relationship Type="http://schemas.openxmlformats.org/officeDocument/2006/relationships/image" Target="/ppt/media/image4.png" Id="R9083759710ba4afe" /><Relationship Type="http://schemas.openxmlformats.org/officeDocument/2006/relationships/image" Target="/ppt/media/image3.jpeg" Id="R27dde09d2ed94f08" /><Relationship Type="http://schemas.openxmlformats.org/officeDocument/2006/relationships/notesSlide" Target="/ppt/notesSlides/notesSlide3.xml" Id="R8e1d3d3e63b946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6d42cc1dc4533" /><Relationship Type="http://schemas.openxmlformats.org/officeDocument/2006/relationships/image" Target="/ppt/media/image4.jpeg" Id="Rb7c49b4b25b24d97" /><Relationship Type="http://schemas.openxmlformats.org/officeDocument/2006/relationships/notesSlide" Target="/ppt/notesSlides/notesSlide4.xml" Id="R0996c22051cd44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ea59a23254388" /><Relationship Type="http://schemas.openxmlformats.org/officeDocument/2006/relationships/image" Target="/ppt/media/image5.png" Id="R3b15f49a1e5d4352" /><Relationship Type="http://schemas.openxmlformats.org/officeDocument/2006/relationships/image" Target="/ppt/media/image5.jpeg" Id="R2094ec0132664667" /><Relationship Type="http://schemas.openxmlformats.org/officeDocument/2006/relationships/notesSlide" Target="/ppt/notesSlides/notesSlide5.xml" Id="R7e4c04ec844d49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6fa1de7a740bb" /><Relationship Type="http://schemas.openxmlformats.org/officeDocument/2006/relationships/image" Target="/ppt/media/image6.jpeg" Id="Ra5dc253e20b940cb" /><Relationship Type="http://schemas.openxmlformats.org/officeDocument/2006/relationships/notesSlide" Target="/ppt/notesSlides/notesSlide6.xml" Id="R09ba1042612840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f4b2506a347d4" /><Relationship Type="http://schemas.openxmlformats.org/officeDocument/2006/relationships/image" Target="/ppt/media/image7.jpeg" Id="R1fb4870cb22749d8" /><Relationship Type="http://schemas.openxmlformats.org/officeDocument/2006/relationships/image" Target="/ppt/media/image8.jpeg" Id="Re01b0fc9b8204433" /><Relationship Type="http://schemas.openxmlformats.org/officeDocument/2006/relationships/image" Target="/ppt/media/image9.jpeg" Id="R3ede53b1adbe4c94" /><Relationship Type="http://schemas.openxmlformats.org/officeDocument/2006/relationships/notesSlide" Target="/ppt/notesSlides/notesSlide7.xml" Id="Rf358c26662844d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cd79f11b44955" /><Relationship Type="http://schemas.openxmlformats.org/officeDocument/2006/relationships/notesSlide" Target="/ppt/notesSlides/notesSlide8.xml" Id="R0656f64d7c294e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01f0eca3e471f" /><Relationship Type="http://schemas.openxmlformats.org/officeDocument/2006/relationships/notesSlide" Target="/ppt/notesSlides/notesSlide9.xml" Id="Rb4fbe3fa0a3c48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">
            <a:extLst xmlns:a="http://schemas.openxmlformats.org/drawingml/2006/main">
              <a:ext uri="{FF2B5EF4-FFF2-40B4-BE49-F238E27FC236}">
                <a16:creationId xmlns:a16="http://schemas.microsoft.com/office/drawing/2014/main" id="{9E36AEC4-2E2F-4E50-B4D1-24D7559D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项目迭代记录 · 2026-08</a:t>
            </a:r>
          </a:p>
        </p:txBody>
      </p:sp>
      <p:sp>
        <p:nvSpPr>
          <p:cNvPr id="2" name="t">
            <a:extLst xmlns:a="http://schemas.openxmlformats.org/drawingml/2006/main">
              <a:ext uri="{FF2B5EF4-FFF2-40B4-BE49-F238E27FC236}">
                <a16:creationId xmlns:a16="http://schemas.microsoft.com/office/drawing/2014/main" id="{01930A8A-3B9B-4A03-8CB3-52CE85B9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从“能打开”到</a:t>
            </a:r>
          </a:p>
          <a:p xmlns:a="http://schemas.openxmlformats.org/drawingml/2006/main">
            <a:pPr algn="l"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“能教学、能恢复”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D87F30D1-E608-44EF-A457-051CFD39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围绕切片、AI、打印、同步、移动端与数据安全进行重构，服务真实教学使用。</a:t>
            </a:r>
          </a:p>
        </p:txBody>
      </p:sp>
      <p:sp>
        <p:nvSpPr>
          <p:cNvPr id="4" name="vis">
            <a:extLst xmlns:a="http://schemas.openxmlformats.org/drawingml/2006/main">
              <a:ext uri="{FF2B5EF4-FFF2-40B4-BE49-F238E27FC236}">
                <a16:creationId xmlns:a16="http://schemas.microsoft.com/office/drawing/2014/main" id="{012496B3-5715-4837-9006-B5F9AF94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1000"/>
            <a:ext cx="57150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udit-frame">
            <a:extLst xmlns:a="http://schemas.openxmlformats.org/drawingml/2006/main">
              <a:ext uri="{FF2B5EF4-FFF2-40B4-BE49-F238E27FC236}">
                <a16:creationId xmlns:a16="http://schemas.microsoft.com/office/drawing/2014/main" id="{77BEBFC5-1365-4E2E-8621-6FC0A5E4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0550"/>
            <a:ext cx="5295900" cy="2990850"/>
          </a:xfrm>
          <a:prstGeom xmlns:a="http://schemas.openxmlformats.org/drawingml/2006/main" prst="roundRect">
            <a:avLst>
              <a:gd name="adj" fmla="val 3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0406476464057"/>
          <a:srcRect xmlns:a="http://schemas.openxmlformats.org/drawingml/2006/main" l="0" t="107" r="0" b="1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609600"/>
            <a:ext cx="5257800" cy="295275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sp>
        <p:nvSpPr>
          <p:cNvPr id="7" name="phone-frame">
            <a:extLst xmlns:a="http://schemas.openxmlformats.org/drawingml/2006/main">
              <a:ext uri="{FF2B5EF4-FFF2-40B4-BE49-F238E27FC236}">
                <a16:creationId xmlns:a16="http://schemas.microsoft.com/office/drawing/2014/main" id="{EA776FA9-86C0-477B-805D-DB38E638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71900"/>
            <a:ext cx="2286000" cy="23050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60fae5c0245c6"/>
          <a:srcRect xmlns:a="http://schemas.openxmlformats.org/drawingml/2006/main" l="0" t="26667" r="0" b="2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6200" y="3790950"/>
            <a:ext cx="2247900" cy="2266950"/>
          </a:xfrm>
          <a:prstGeom xmlns:a="http://schemas.openxmlformats.org/drawingml/2006/main" prst="roundRect">
            <a:avLst>
              <a:gd name="adj" fmla="val 4237"/>
            </a:avLst>
          </a:prstGeom>
        </p:spPr>
      </p:pic>
      <p:sp>
        <p:nvSpPr>
          <p:cNvPr id="9" name="proof">
            <a:extLst xmlns:a="http://schemas.openxmlformats.org/drawingml/2006/main">
              <a:ext uri="{FF2B5EF4-FFF2-40B4-BE49-F238E27FC236}">
                <a16:creationId xmlns:a16="http://schemas.microsoft.com/office/drawing/2014/main" id="{102D403A-9447-4146-A899-1600E25F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真实问题驱动 · 逐项验证 · Git 可追溯</a:t>
            </a:r>
          </a:p>
        </p:txBody>
      </p:sp>
    </p:spTree>
    <p:extLst>
      <p:ext uri="{BB962C8B-B14F-4D97-AF65-F5344CB8AC3E}">
        <p14:creationId xmlns:p14="http://schemas.microsoft.com/office/powerpoint/2010/main" val="7251581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2">
            <a:extLst xmlns:a="http://schemas.openxmlformats.org/drawingml/2006/main">
              <a:ext uri="{FF2B5EF4-FFF2-40B4-BE49-F238E27FC236}">
                <a16:creationId xmlns:a16="http://schemas.microsoft.com/office/drawing/2014/main" id="{A7CA9A14-E6ED-418F-920A-AB53E38D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项目迭代过程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4AF0E1A-D1BA-4AD5-83F1-AEAEDDD2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第一轮审查暴露的不是小瑕疵，而是教学链路断点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7607B747-BFB4-42EC-9BF5-C5908CAC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" name="p0-frame">
            <a:extLst xmlns:a="http://schemas.openxmlformats.org/drawingml/2006/main">
              <a:ext uri="{FF2B5EF4-FFF2-40B4-BE49-F238E27FC236}">
                <a16:creationId xmlns:a16="http://schemas.microsoft.com/office/drawing/2014/main" id="{C781722F-D88F-44E9-8BEC-2911D506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3467100" cy="2286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1c5d91c2e47a6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390650"/>
            <a:ext cx="3429000" cy="2247900"/>
          </a:xfrm>
          <a:prstGeom xmlns:a="http://schemas.openxmlformats.org/drawingml/2006/main" prst="roundRect">
            <a:avLst>
              <a:gd name="adj" fmla="val 4237"/>
            </a:avLst>
          </a:prstGeom>
        </p:spPr>
      </p:pic>
      <p:sp>
        <p:nvSpPr>
          <p:cNvPr id="6" name="pt0">
            <a:extLst xmlns:a="http://schemas.openxmlformats.org/drawingml/2006/main">
              <a:ext uri="{FF2B5EF4-FFF2-40B4-BE49-F238E27FC236}">
                <a16:creationId xmlns:a16="http://schemas.microsoft.com/office/drawing/2014/main" id="{29B976C0-F7E6-4BBC-A5FF-F1D81799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2D20"/>
                </a:solidFill>
              </a:defRPr>
            </a:pPr>
            <a:r>
              <a:rPr sz="1800" b="1">
                <a:solidFill>
                  <a:srgbClr val="D92D20"/>
                </a:solidFill>
              </a:rPr>
              <a:t>切片跨页</a:t>
            </a:r>
          </a:p>
        </p:txBody>
      </p:sp>
      <p:sp>
        <p:nvSpPr>
          <p:cNvPr id="7" name="pc0">
            <a:extLst xmlns:a="http://schemas.openxmlformats.org/drawingml/2006/main">
              <a:ext uri="{FF2B5EF4-FFF2-40B4-BE49-F238E27FC236}">
                <a16:creationId xmlns:a16="http://schemas.microsoft.com/office/drawing/2014/main" id="{CF5B4A26-CEDA-445F-808E-C52B9895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题目被页边界截断。</a:t>
            </a:r>
          </a:p>
        </p:txBody>
      </p:sp>
      <p:sp>
        <p:nvSpPr>
          <p:cNvPr id="8" name="p1-frame">
            <a:extLst xmlns:a="http://schemas.openxmlformats.org/drawingml/2006/main">
              <a:ext uri="{FF2B5EF4-FFF2-40B4-BE49-F238E27FC236}">
                <a16:creationId xmlns:a16="http://schemas.microsoft.com/office/drawing/2014/main" id="{F89D319E-CD81-4E23-B6CA-BDCD3FEB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71600"/>
            <a:ext cx="3467100" cy="2286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285dadc1b4d87"/>
          <a:stretch xmlns:a="http://schemas.openxmlformats.org/drawingml/2006/main"/>
        </p:blipFill>
        <p:spPr>
          <a:xfrm xmlns:a="http://schemas.openxmlformats.org/drawingml/2006/main">
            <a:off x="4381500" y="1844599"/>
            <a:ext cx="3429000" cy="1340002"/>
          </a:xfrm>
          <a:prstGeom xmlns:a="http://schemas.openxmlformats.org/drawingml/2006/main" prst="roundRect">
            <a:avLst>
              <a:gd name="adj" fmla="val 4237"/>
            </a:avLst>
          </a:prstGeom>
        </p:spPr>
      </p:pic>
      <p:sp>
        <p:nvSpPr>
          <p:cNvPr id="10" name="pt1">
            <a:extLst xmlns:a="http://schemas.openxmlformats.org/drawingml/2006/main">
              <a:ext uri="{FF2B5EF4-FFF2-40B4-BE49-F238E27FC236}">
                <a16:creationId xmlns:a16="http://schemas.microsoft.com/office/drawing/2014/main" id="{BB85B4A1-E19E-479B-B251-8E1DF4CE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2D20"/>
                </a:solidFill>
              </a:defRPr>
            </a:pPr>
            <a:r>
              <a:rPr sz="1800" b="1">
                <a:solidFill>
                  <a:srgbClr val="D92D20"/>
                </a:solidFill>
              </a:rPr>
              <a:t>答案不完整</a:t>
            </a:r>
          </a:p>
        </p:txBody>
      </p:sp>
      <p:sp>
        <p:nvSpPr>
          <p:cNvPr id="11" name="pc1">
            <a:extLst xmlns:a="http://schemas.openxmlformats.org/drawingml/2006/main">
              <a:ext uri="{FF2B5EF4-FFF2-40B4-BE49-F238E27FC236}">
                <a16:creationId xmlns:a16="http://schemas.microsoft.com/office/drawing/2014/main" id="{EFCA2B8E-CF84-4D76-AE71-94144F3D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96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跨页答案只有一半，AI 也难以准确核对。</a:t>
            </a:r>
          </a:p>
        </p:txBody>
      </p:sp>
      <p:sp>
        <p:nvSpPr>
          <p:cNvPr id="12" name="p2-frame">
            <a:extLst xmlns:a="http://schemas.openxmlformats.org/drawingml/2006/main">
              <a:ext uri="{FF2B5EF4-FFF2-40B4-BE49-F238E27FC236}">
                <a16:creationId xmlns:a16="http://schemas.microsoft.com/office/drawing/2014/main" id="{049FB5FB-CBC4-4CA1-922C-E106F1E8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71600"/>
            <a:ext cx="3467100" cy="2286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68f6e022b40c9"/>
          <a:srcRect xmlns:a="http://schemas.openxmlformats.org/drawingml/2006/main" l="32170" t="0" r="32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390650"/>
            <a:ext cx="3429000" cy="2247900"/>
          </a:xfrm>
          <a:prstGeom xmlns:a="http://schemas.openxmlformats.org/drawingml/2006/main" prst="roundRect">
            <a:avLst>
              <a:gd name="adj" fmla="val 4237"/>
            </a:avLst>
          </a:prstGeom>
        </p:spPr>
      </p:pic>
      <p:sp>
        <p:nvSpPr>
          <p:cNvPr id="14" name="pt2">
            <a:extLst xmlns:a="http://schemas.openxmlformats.org/drawingml/2006/main">
              <a:ext uri="{FF2B5EF4-FFF2-40B4-BE49-F238E27FC236}">
                <a16:creationId xmlns:a16="http://schemas.microsoft.com/office/drawing/2014/main" id="{701CC7DC-FA69-4871-8F1E-EE3938E2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2D20"/>
                </a:solidFill>
              </a:defRPr>
            </a:pPr>
            <a:r>
              <a:rPr sz="1800" b="1">
                <a:solidFill>
                  <a:srgbClr val="D92D20"/>
                </a:solidFill>
              </a:rPr>
              <a:t>导出与排版失灵</a:t>
            </a:r>
          </a:p>
        </p:txBody>
      </p:sp>
      <p:sp>
        <p:nvSpPr>
          <p:cNvPr id="15" name="pc2">
            <a:extLst xmlns:a="http://schemas.openxmlformats.org/drawingml/2006/main">
              <a:ext uri="{FF2B5EF4-FFF2-40B4-BE49-F238E27FC236}">
                <a16:creationId xmlns:a16="http://schemas.microsoft.com/office/drawing/2014/main" id="{212A5F0B-640E-4F9F-91A8-CACE1B84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96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不同端表现不一致。</a:t>
            </a:r>
          </a:p>
        </p:txBody>
      </p:sp>
      <p:sp>
        <p:nvSpPr>
          <p:cNvPr id="16" name="sum">
            <a:extLst xmlns:a="http://schemas.openxmlformats.org/drawingml/2006/main">
              <a:ext uri="{FF2B5EF4-FFF2-40B4-BE49-F238E27FC236}">
                <a16:creationId xmlns:a16="http://schemas.microsoft.com/office/drawing/2014/main" id="{754BCF0B-40CC-4484-9F56-E9948AC1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0915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umc">
            <a:extLst xmlns:a="http://schemas.openxmlformats.org/drawingml/2006/main">
              <a:ext uri="{FF2B5EF4-FFF2-40B4-BE49-F238E27FC236}">
                <a16:creationId xmlns:a16="http://schemas.microsoft.com/office/drawing/2014/main" id="{4A7970CC-2886-4262-95A6-A6DBD7D6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2D20"/>
                </a:solidFill>
              </a:defRPr>
            </a:pPr>
            <a:r>
              <a:rPr sz="1575" b="1">
                <a:solidFill>
                  <a:srgbClr val="D92D20"/>
                </a:solidFill>
              </a:rPr>
              <a:t>必须按“题库内容—使用动作—数据结果”整条链路修，而不是只修表面样式。</a:t>
            </a:r>
          </a:p>
        </p:txBody>
      </p:sp>
    </p:spTree>
    <p:extLst>
      <p:ext uri="{BB962C8B-B14F-4D97-AF65-F5344CB8AC3E}">
        <p14:creationId xmlns:p14="http://schemas.microsoft.com/office/powerpoint/2010/main" val="1374007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3">
            <a:extLst xmlns:a="http://schemas.openxmlformats.org/drawingml/2006/main">
              <a:ext uri="{FF2B5EF4-FFF2-40B4-BE49-F238E27FC236}">
                <a16:creationId xmlns:a16="http://schemas.microsoft.com/office/drawing/2014/main" id="{C6A303BC-9604-49FE-86DF-78C78364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项目迭代过程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3C59B46-B1BC-49A6-B90A-D9004E54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跨页切片修复后，题干、原图与作答入口重新完整衔接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FB877960-3A5B-481F-A7F3-FD317909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4" name="b-frame">
            <a:extLst xmlns:a="http://schemas.openxmlformats.org/drawingml/2006/main">
              <a:ext uri="{FF2B5EF4-FFF2-40B4-BE49-F238E27FC236}">
                <a16:creationId xmlns:a16="http://schemas.microsoft.com/office/drawing/2014/main" id="{9A434EA5-28FB-4A0A-986C-67FA2110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4514850" cy="2933700"/>
          </a:xfrm>
          <a:prstGeom xmlns:a="http://schemas.openxmlformats.org/drawingml/2006/main" prst="roundRect">
            <a:avLst>
              <a:gd name="adj" fmla="val 3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3759710ba4afe"/>
          <a:srcRect xmlns:a="http://schemas.openxmlformats.org/drawingml/2006/main" l="0" t="1700" r="0" b="17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28750"/>
            <a:ext cx="4476750" cy="2895600"/>
          </a:xfrm>
          <a:prstGeom xmlns:a="http://schemas.openxmlformats.org/drawingml/2006/main" prst="roundRect">
            <a:avLst>
              <a:gd name="adj" fmla="val 3289"/>
            </a:avLst>
          </a:prstGeom>
        </p:spPr>
      </p:pic>
      <p:sp>
        <p:nvSpPr>
          <p:cNvPr id="6" name="arr">
            <a:extLst xmlns:a="http://schemas.openxmlformats.org/drawingml/2006/main">
              <a:ext uri="{FF2B5EF4-FFF2-40B4-BE49-F238E27FC236}">
                <a16:creationId xmlns:a16="http://schemas.microsoft.com/office/drawing/2014/main" id="{C31F10C0-39E6-4A57-87CE-3A775CC8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563EB"/>
                </a:solidFill>
              </a:defRPr>
            </a:pPr>
            <a:r>
              <a:rPr sz="30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7" name="a-frame">
            <a:extLst xmlns:a="http://schemas.openxmlformats.org/drawingml/2006/main">
              <a:ext uri="{FF2B5EF4-FFF2-40B4-BE49-F238E27FC236}">
                <a16:creationId xmlns:a16="http://schemas.microsoft.com/office/drawing/2014/main" id="{570468E1-812D-481C-94A3-8E4DBC09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09700"/>
            <a:ext cx="5734050" cy="2933700"/>
          </a:xfrm>
          <a:prstGeom xmlns:a="http://schemas.openxmlformats.org/drawingml/2006/main" prst="roundRect">
            <a:avLst>
              <a:gd name="adj" fmla="val 3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de09d2ed94f08"/>
          <a:srcRect xmlns:a="http://schemas.openxmlformats.org/drawingml/2006/main" l="0" t="4836" r="0" b="4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1428750"/>
            <a:ext cx="5695950" cy="2895600"/>
          </a:xfrm>
          <a:prstGeom xmlns:a="http://schemas.openxmlformats.org/drawingml/2006/main" prst="roundRect">
            <a:avLst>
              <a:gd name="adj" fmla="val 3289"/>
            </a:avLst>
          </a:prstGeom>
        </p:spPr>
      </p:pic>
      <p:sp>
        <p:nvSpPr>
          <p:cNvPr id="9" name="bt">
            <a:extLst xmlns:a="http://schemas.openxmlformats.org/drawingml/2006/main">
              <a:ext uri="{FF2B5EF4-FFF2-40B4-BE49-F238E27FC236}">
                <a16:creationId xmlns:a16="http://schemas.microsoft.com/office/drawing/2014/main" id="{B9733751-EF18-4399-98EB-A9484FB6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2D20"/>
                </a:solidFill>
              </a:defRPr>
            </a:pPr>
            <a:r>
              <a:rPr sz="1800" b="1">
                <a:solidFill>
                  <a:srgbClr val="D92D20"/>
                </a:solidFill>
              </a:rPr>
              <a:t>以前：题目只剩上半页</a:t>
            </a:r>
          </a:p>
        </p:txBody>
      </p:sp>
      <p:sp>
        <p:nvSpPr>
          <p:cNvPr id="10" name="bc">
            <a:extLst xmlns:a="http://schemas.openxmlformats.org/drawingml/2006/main">
              <a:ext uri="{FF2B5EF4-FFF2-40B4-BE49-F238E27FC236}">
                <a16:creationId xmlns:a16="http://schemas.microsoft.com/office/drawing/2014/main" id="{AD5A1A3B-F0EC-43DD-8BBF-2E42117F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跨页、漏图、答案截断让题目无法独立使用。</a:t>
            </a:r>
          </a:p>
        </p:txBody>
      </p:sp>
      <p:sp>
        <p:nvSpPr>
          <p:cNvPr id="11" name="at">
            <a:extLst xmlns:a="http://schemas.openxmlformats.org/drawingml/2006/main">
              <a:ext uri="{FF2B5EF4-FFF2-40B4-BE49-F238E27FC236}">
                <a16:creationId xmlns:a16="http://schemas.microsoft.com/office/drawing/2014/main" id="{7888C266-D3A8-43D1-B9E1-F49C5FE4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67250"/>
            <a:ext cx="569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9455"/>
                </a:solidFill>
              </a:defRPr>
            </a:pPr>
            <a:r>
              <a:rPr sz="1800" b="1">
                <a:solidFill>
                  <a:srgbClr val="079455"/>
                </a:solidFill>
              </a:rPr>
              <a:t>现在：一题一屏，原书证据仍保留</a:t>
            </a:r>
          </a:p>
        </p:txBody>
      </p:sp>
      <p:sp>
        <p:nvSpPr>
          <p:cNvPr id="12" name="ac">
            <a:extLst xmlns:a="http://schemas.openxmlformats.org/drawingml/2006/main">
              <a:ext uri="{FF2B5EF4-FFF2-40B4-BE49-F238E27FC236}">
                <a16:creationId xmlns:a16="http://schemas.microsoft.com/office/drawing/2014/main" id="{9115589A-A5DB-4599-BBE9-BDA77381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24450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题干文字、精准切片、判分和答案入口完整衔接。</a:t>
            </a:r>
          </a:p>
        </p:txBody>
      </p:sp>
    </p:spTree>
    <p:extLst>
      <p:ext uri="{BB962C8B-B14F-4D97-AF65-F5344CB8AC3E}">
        <p14:creationId xmlns:p14="http://schemas.microsoft.com/office/powerpoint/2010/main" val="409665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4">
            <a:extLst xmlns:a="http://schemas.openxmlformats.org/drawingml/2006/main">
              <a:ext uri="{FF2B5EF4-FFF2-40B4-BE49-F238E27FC236}">
                <a16:creationId xmlns:a16="http://schemas.microsoft.com/office/drawing/2014/main" id="{851F9EA2-4AA0-446C-817A-6CD3B79E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项目迭代过程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74EAD78-BCAC-4718-84E0-62BC93F6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AI 解析从“模型回答”升级为“可交付的教学结果”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FC29AC5B-A42E-48DD-9D37-642A8934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4" name="old">
            <a:extLst xmlns:a="http://schemas.openxmlformats.org/drawingml/2006/main">
              <a:ext uri="{FF2B5EF4-FFF2-40B4-BE49-F238E27FC236}">
                <a16:creationId xmlns:a16="http://schemas.microsoft.com/office/drawing/2014/main" id="{4AFB382B-5A90-460E-B2C9-A90DC8B4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3905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l">
            <a:extLst xmlns:a="http://schemas.openxmlformats.org/drawingml/2006/main">
              <a:ext uri="{FF2B5EF4-FFF2-40B4-BE49-F238E27FC236}">
                <a16:creationId xmlns:a16="http://schemas.microsoft.com/office/drawing/2014/main" id="{E0B33A94-B46A-4939-9981-C8A8AA30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2D20"/>
                </a:solidFill>
              </a:defRPr>
            </a:pPr>
            <a:r>
              <a:rPr sz="1650" b="1">
                <a:solidFill>
                  <a:srgbClr val="D92D20"/>
                </a:solidFill>
              </a:rPr>
              <a:t>修复前</a:t>
            </a:r>
          </a:p>
        </p:txBody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F3333CB5-7003-415C-A3C6-B4E59E2C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"analysis": "..."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"stepByStepSolution": [...]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"finalAnswer": "..."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重复 JSON / 截断字段</a:t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步骤不足 / 502 后降级空泛模板</a:t>
            </a:r>
          </a:p>
        </p:txBody>
      </p:sp>
      <p:sp>
        <p:nvSpPr>
          <p:cNvPr id="7" name="om">
            <a:extLst xmlns:a="http://schemas.openxmlformats.org/drawingml/2006/main">
              <a:ext uri="{FF2B5EF4-FFF2-40B4-BE49-F238E27FC236}">
                <a16:creationId xmlns:a16="http://schemas.microsoft.com/office/drawing/2014/main" id="{572F190C-E30E-46A3-8900-694C44CC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2D20"/>
                </a:solidFill>
              </a:defRPr>
            </a:pPr>
            <a:r>
              <a:rPr sz="1350" b="0">
                <a:solidFill>
                  <a:srgbClr val="D92D20"/>
                </a:solidFill>
              </a:rPr>
              <a:t>用户看到提示词结构，不是可读解析。</a:t>
            </a:r>
          </a:p>
        </p:txBody>
      </p:sp>
      <p:sp>
        <p:nvSpPr>
          <p:cNvPr id="8" name="arr">
            <a:extLst xmlns:a="http://schemas.openxmlformats.org/drawingml/2006/main">
              <a:ext uri="{FF2B5EF4-FFF2-40B4-BE49-F238E27FC236}">
                <a16:creationId xmlns:a16="http://schemas.microsoft.com/office/drawing/2014/main" id="{4035C44C-BE49-4817-BBAA-7F5193AB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563EB"/>
                </a:solidFill>
              </a:defRPr>
            </a:pPr>
            <a:r>
              <a:rPr sz="30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new-frame">
            <a:extLst xmlns:a="http://schemas.openxmlformats.org/drawingml/2006/main">
              <a:ext uri="{FF2B5EF4-FFF2-40B4-BE49-F238E27FC236}">
                <a16:creationId xmlns:a16="http://schemas.microsoft.com/office/drawing/2014/main" id="{E4781FC3-6219-41C9-91B1-FA91A3A0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409700"/>
            <a:ext cx="6419850" cy="4210050"/>
          </a:xfrm>
          <a:prstGeom xmlns:a="http://schemas.openxmlformats.org/drawingml/2006/main" prst="roundRect">
            <a:avLst>
              <a:gd name="adj" fmla="val 22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49b4b25b24d97"/>
          <a:srcRect xmlns:a="http://schemas.openxmlformats.org/drawingml/2006/main" l="6955" t="0" r="69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5900" y="1428750"/>
            <a:ext cx="6381750" cy="4171950"/>
          </a:xfrm>
          <a:prstGeom xmlns:a="http://schemas.openxmlformats.org/drawingml/2006/main" prst="roundRect">
            <a:avLst>
              <a:gd name="adj" fmla="val 2283"/>
            </a:avLst>
          </a:prstGeom>
        </p:spPr>
      </p:pic>
      <p:sp>
        <p:nvSpPr>
          <p:cNvPr id="11" name="nc">
            <a:extLst xmlns:a="http://schemas.openxmlformats.org/drawingml/2006/main">
              <a:ext uri="{FF2B5EF4-FFF2-40B4-BE49-F238E27FC236}">
                <a16:creationId xmlns:a16="http://schemas.microsoft.com/office/drawing/2014/main" id="{3BFDEC81-BB29-48C8-82C4-1D15BEB6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86740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9455"/>
                </a:solidFill>
              </a:defRPr>
            </a:pPr>
            <a:r>
              <a:rPr sz="1500" b="1">
                <a:solidFill>
                  <a:srgbClr val="079455"/>
                </a:solidFill>
              </a:rPr>
              <a:t>结构化展示 + 质量校验 + 模型回退 + 官方答案约束</a:t>
            </a:r>
          </a:p>
        </p:txBody>
      </p:sp>
    </p:spTree>
    <p:extLst>
      <p:ext uri="{BB962C8B-B14F-4D97-AF65-F5344CB8AC3E}">
        <p14:creationId xmlns:p14="http://schemas.microsoft.com/office/powerpoint/2010/main" val="890773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5">
            <a:extLst xmlns:a="http://schemas.openxmlformats.org/drawingml/2006/main">
              <a:ext uri="{FF2B5EF4-FFF2-40B4-BE49-F238E27FC236}">
                <a16:creationId xmlns:a16="http://schemas.microsoft.com/office/drawing/2014/main" id="{D3E7957F-2D3C-4CF4-A3DA-C378C292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项目迭代过程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440579A-75E3-4DFC-99F6-0CADB01E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打印与导出修复后，网页端和手机端都有明确出口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73F34449-811B-4393-B2D8-62122AF2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4" name="pb-frame">
            <a:extLst xmlns:a="http://schemas.openxmlformats.org/drawingml/2006/main">
              <a:ext uri="{FF2B5EF4-FFF2-40B4-BE49-F238E27FC236}">
                <a16:creationId xmlns:a16="http://schemas.microsoft.com/office/drawing/2014/main" id="{BB9B6625-92C4-48AC-9425-0E96F63E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5200650" cy="3352800"/>
          </a:xfrm>
          <a:prstGeom xmlns:a="http://schemas.openxmlformats.org/drawingml/2006/main" prst="roundRect">
            <a:avLst>
              <a:gd name="adj" fmla="val 28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5f49a1e5d4352"/>
          <a:srcRect xmlns:a="http://schemas.openxmlformats.org/drawingml/2006/main" l="0" t="3837" r="0" b="38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09700"/>
            <a:ext cx="5162550" cy="3314700"/>
          </a:xfrm>
          <a:prstGeom xmlns:a="http://schemas.openxmlformats.org/drawingml/2006/main" prst="roundRect">
            <a:avLst>
              <a:gd name="adj" fmla="val 2874"/>
            </a:avLst>
          </a:prstGeom>
        </p:spPr>
      </p:pic>
      <p:sp>
        <p:nvSpPr>
          <p:cNvPr id="6" name="pa-frame">
            <a:extLst xmlns:a="http://schemas.openxmlformats.org/drawingml/2006/main">
              <a:ext uri="{FF2B5EF4-FFF2-40B4-BE49-F238E27FC236}">
                <a16:creationId xmlns:a16="http://schemas.microsoft.com/office/drawing/2014/main" id="{4F14CE0B-EDA5-4C7E-8A6F-1837749E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90650"/>
            <a:ext cx="5486400" cy="3352800"/>
          </a:xfrm>
          <a:prstGeom xmlns:a="http://schemas.openxmlformats.org/drawingml/2006/main" prst="roundRect">
            <a:avLst>
              <a:gd name="adj" fmla="val 28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4ec0132664667"/>
          <a:srcRect xmlns:a="http://schemas.openxmlformats.org/drawingml/2006/main" l="3747" t="0" r="37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409700"/>
            <a:ext cx="5448300" cy="3314700"/>
          </a:xfrm>
          <a:prstGeom xmlns:a="http://schemas.openxmlformats.org/drawingml/2006/main" prst="roundRect">
            <a:avLst>
              <a:gd name="adj" fmla="val 2874"/>
            </a:avLst>
          </a:prstGeom>
        </p:spPr>
      </p:pic>
      <p:sp>
        <p:nvSpPr>
          <p:cNvPr id="8" name="pbt">
            <a:extLst xmlns:a="http://schemas.openxmlformats.org/drawingml/2006/main">
              <a:ext uri="{FF2B5EF4-FFF2-40B4-BE49-F238E27FC236}">
                <a16:creationId xmlns:a16="http://schemas.microsoft.com/office/drawing/2014/main" id="{94B5DBD7-312E-4FB4-91C8-BD79E111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2D20"/>
                </a:solidFill>
              </a:defRPr>
            </a:pPr>
            <a:r>
              <a:rPr sz="1800" b="1">
                <a:solidFill>
                  <a:srgbClr val="D92D20"/>
                </a:solidFill>
              </a:rPr>
              <a:t>修复前：导出失败</a:t>
            </a:r>
          </a:p>
        </p:txBody>
      </p:sp>
      <p:sp>
        <p:nvSpPr>
          <p:cNvPr id="9" name="pbc">
            <a:extLst xmlns:a="http://schemas.openxmlformats.org/drawingml/2006/main">
              <a:ext uri="{FF2B5EF4-FFF2-40B4-BE49-F238E27FC236}">
                <a16:creationId xmlns:a16="http://schemas.microsoft.com/office/drawing/2014/main" id="{C0BBCA8E-BEFD-4C7C-AE87-CD619873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截图工具无法解析 oklch，打印与长图都不稳定。</a:t>
            </a:r>
          </a:p>
        </p:txBody>
      </p:sp>
      <p:sp>
        <p:nvSpPr>
          <p:cNvPr id="10" name="pat">
            <a:extLst xmlns:a="http://schemas.openxmlformats.org/drawingml/2006/main">
              <a:ext uri="{FF2B5EF4-FFF2-40B4-BE49-F238E27FC236}">
                <a16:creationId xmlns:a16="http://schemas.microsoft.com/office/drawing/2014/main" id="{1DBFB9B6-1059-43FC-98A9-4421A0ED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01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9455"/>
                </a:solidFill>
              </a:defRPr>
            </a:pPr>
            <a:r>
              <a:rPr sz="1800" b="1">
                <a:solidFill>
                  <a:srgbClr val="079455"/>
                </a:solidFill>
              </a:rPr>
              <a:t>修复后：五种明确交付方式</a:t>
            </a:r>
          </a:p>
        </p:txBody>
      </p:sp>
      <p:sp>
        <p:nvSpPr>
          <p:cNvPr id="11" name="pac">
            <a:extLst xmlns:a="http://schemas.openxmlformats.org/drawingml/2006/main">
              <a:ext uri="{FF2B5EF4-FFF2-40B4-BE49-F238E27FC236}">
                <a16:creationId xmlns:a16="http://schemas.microsoft.com/office/drawing/2014/main" id="{748B8FB3-735E-4AFF-B41A-37F7DF6F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4830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A4 PDF、一张长图、系统打印、跨端分享与答案卡。</a:t>
            </a:r>
          </a:p>
        </p:txBody>
      </p:sp>
    </p:spTree>
    <p:extLst>
      <p:ext uri="{BB962C8B-B14F-4D97-AF65-F5344CB8AC3E}">
        <p14:creationId xmlns:p14="http://schemas.microsoft.com/office/powerpoint/2010/main" val="2045466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6">
            <a:extLst xmlns:a="http://schemas.openxmlformats.org/drawingml/2006/main">
              <a:ext uri="{FF2B5EF4-FFF2-40B4-BE49-F238E27FC236}">
                <a16:creationId xmlns:a16="http://schemas.microsoft.com/office/drawing/2014/main" id="{75DD493F-14BE-4870-8909-1FE7A941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项目迭代过程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7C2C507-F3AC-4583-813A-048572D3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云同步不只要“能传”，还要能合并、能恢复、不会泄密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3CB5B213-E62A-467E-8785-2D315BA3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4" name="members-frame">
            <a:extLst xmlns:a="http://schemas.openxmlformats.org/drawingml/2006/main">
              <a:ext uri="{FF2B5EF4-FFF2-40B4-BE49-F238E27FC236}">
                <a16:creationId xmlns:a16="http://schemas.microsoft.com/office/drawing/2014/main" id="{04D89575-FA4B-4CA2-B745-EF3634FF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5943600" cy="3371850"/>
          </a:xfrm>
          <a:prstGeom xmlns:a="http://schemas.openxmlformats.org/drawingml/2006/main" prst="roundRect">
            <a:avLst>
              <a:gd name="adj" fmla="val 2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c253e20b940cb"/>
          <a:srcRect xmlns:a="http://schemas.openxmlformats.org/drawingml/2006/main" l="153" t="0" r="1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28750"/>
            <a:ext cx="5905500" cy="33337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sg0-bar">
            <a:extLst xmlns:a="http://schemas.openxmlformats.org/drawingml/2006/main">
              <a:ext uri="{FF2B5EF4-FFF2-40B4-BE49-F238E27FC236}">
                <a16:creationId xmlns:a16="http://schemas.microsoft.com/office/drawing/2014/main" id="{5C5D88C1-152E-4425-AD7A-F0199A3E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4763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g0">
            <a:extLst xmlns:a="http://schemas.openxmlformats.org/drawingml/2006/main">
              <a:ext uri="{FF2B5EF4-FFF2-40B4-BE49-F238E27FC236}">
                <a16:creationId xmlns:a16="http://schemas.microsoft.com/office/drawing/2014/main" id="{AE071CB8-69C4-4A12-8348-1ED6378F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668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内置配置</a:t>
            </a:r>
          </a:p>
        </p:txBody>
      </p:sp>
      <p:sp>
        <p:nvSpPr>
          <p:cNvPr id="8" name="sgc0">
            <a:extLst xmlns:a="http://schemas.openxmlformats.org/drawingml/2006/main">
              <a:ext uri="{FF2B5EF4-FFF2-40B4-BE49-F238E27FC236}">
                <a16:creationId xmlns:a16="http://schemas.microsoft.com/office/drawing/2014/main" id="{44C753B1-078C-4210-B738-72D52D1C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478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可开箱使用，但演示材料不展示密钥</a:t>
            </a:r>
          </a:p>
        </p:txBody>
      </p:sp>
      <p:sp>
        <p:nvSpPr>
          <p:cNvPr id="9" name="sg1-bar">
            <a:extLst xmlns:a="http://schemas.openxmlformats.org/drawingml/2006/main">
              <a:ext uri="{FF2B5EF4-FFF2-40B4-BE49-F238E27FC236}">
                <a16:creationId xmlns:a16="http://schemas.microsoft.com/office/drawing/2014/main" id="{18ED3574-6C4B-46D2-A8BB-944296EE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050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g1">
            <a:extLst xmlns:a="http://schemas.openxmlformats.org/drawingml/2006/main">
              <a:ext uri="{FF2B5EF4-FFF2-40B4-BE49-F238E27FC236}">
                <a16:creationId xmlns:a16="http://schemas.microsoft.com/office/drawing/2014/main" id="{6F619659-FD2F-4489-A426-A33365D2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9455"/>
                </a:solidFill>
              </a:defRPr>
            </a:pPr>
            <a:r>
              <a:rPr sz="1425" b="1">
                <a:solidFill>
                  <a:srgbClr val="079455"/>
                </a:solidFill>
              </a:rPr>
              <a:t>删除标记</a:t>
            </a:r>
          </a:p>
        </p:txBody>
      </p:sp>
      <p:sp>
        <p:nvSpPr>
          <p:cNvPr id="11" name="sgc1">
            <a:extLst xmlns:a="http://schemas.openxmlformats.org/drawingml/2006/main">
              <a:ext uri="{FF2B5EF4-FFF2-40B4-BE49-F238E27FC236}">
                <a16:creationId xmlns:a16="http://schemas.microsoft.com/office/drawing/2014/main" id="{8075F2C2-E105-46B9-BAA0-4E8CBF20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云端软删除，可从回收站恢复</a:t>
            </a:r>
          </a:p>
        </p:txBody>
      </p:sp>
      <p:sp>
        <p:nvSpPr>
          <p:cNvPr id="12" name="sg2-bar">
            <a:extLst xmlns:a="http://schemas.openxmlformats.org/drawingml/2006/main">
              <a:ext uri="{FF2B5EF4-FFF2-40B4-BE49-F238E27FC236}">
                <a16:creationId xmlns:a16="http://schemas.microsoft.com/office/drawing/2014/main" id="{BFBD556C-6AC0-4AB5-A4EB-0E32E9F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337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g2">
            <a:extLst xmlns:a="http://schemas.openxmlformats.org/drawingml/2006/main">
              <a:ext uri="{FF2B5EF4-FFF2-40B4-BE49-F238E27FC236}">
                <a16:creationId xmlns:a16="http://schemas.microsoft.com/office/drawing/2014/main" id="{4D626415-A0C1-4A05-B3B1-7CC85B98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冲突重试</a:t>
            </a:r>
          </a:p>
        </p:txBody>
      </p:sp>
      <p:sp>
        <p:nvSpPr>
          <p:cNvPr id="14" name="sgc2">
            <a:extLst xmlns:a="http://schemas.openxmlformats.org/drawingml/2006/main">
              <a:ext uri="{FF2B5EF4-FFF2-40B4-BE49-F238E27FC236}">
                <a16:creationId xmlns:a16="http://schemas.microsoft.com/office/drawing/2014/main" id="{726E5A42-FF97-4226-955C-42283C69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共享文件使用版本标识合并重试</a:t>
            </a:r>
          </a:p>
        </p:txBody>
      </p:sp>
      <p:sp>
        <p:nvSpPr>
          <p:cNvPr id="15" name="sg3-bar">
            <a:extLst xmlns:a="http://schemas.openxmlformats.org/drawingml/2006/main">
              <a:ext uri="{FF2B5EF4-FFF2-40B4-BE49-F238E27FC236}">
                <a16:creationId xmlns:a16="http://schemas.microsoft.com/office/drawing/2014/main" id="{03F9AADE-D1A6-4F0C-930A-2067C9C5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624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g3">
            <a:extLst xmlns:a="http://schemas.openxmlformats.org/drawingml/2006/main">
              <a:ext uri="{FF2B5EF4-FFF2-40B4-BE49-F238E27FC236}">
                <a16:creationId xmlns:a16="http://schemas.microsoft.com/office/drawing/2014/main" id="{BA616B20-35C9-48DB-9CF8-CFF972D4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529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角色隔离</a:t>
            </a:r>
          </a:p>
        </p:txBody>
      </p:sp>
      <p:sp>
        <p:nvSpPr>
          <p:cNvPr id="17" name="sgc3">
            <a:extLst xmlns:a="http://schemas.openxmlformats.org/drawingml/2006/main">
              <a:ext uri="{FF2B5EF4-FFF2-40B4-BE49-F238E27FC236}">
                <a16:creationId xmlns:a16="http://schemas.microsoft.com/office/drawing/2014/main" id="{2C8980A5-BE55-4F43-8255-9E529155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339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教师与管理员拥有不同操作范围</a:t>
            </a:r>
          </a:p>
        </p:txBody>
      </p:sp>
      <p:sp>
        <p:nvSpPr>
          <p:cNvPr id="18" name="next">
            <a:extLst xmlns:a="http://schemas.openxmlformats.org/drawingml/2006/main">
              <a:ext uri="{FF2B5EF4-FFF2-40B4-BE49-F238E27FC236}">
                <a16:creationId xmlns:a16="http://schemas.microsoft.com/office/drawing/2014/main" id="{0700456A-8B5E-4B8C-934F-8FBBC582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76850"/>
            <a:ext cx="10915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extc">
            <a:extLst xmlns:a="http://schemas.openxmlformats.org/drawingml/2006/main">
              <a:ext uri="{FF2B5EF4-FFF2-40B4-BE49-F238E27FC236}">
                <a16:creationId xmlns:a16="http://schemas.microsoft.com/office/drawing/2014/main" id="{599090A0-5863-4CB3-B624-D3C1FE43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仍需继续：为个人记录 PUT 增加 ETag 条件写，防止两台设备同时同步时互相覆盖。</a:t>
            </a:r>
          </a:p>
        </p:txBody>
      </p:sp>
    </p:spTree>
    <p:extLst>
      <p:ext uri="{BB962C8B-B14F-4D97-AF65-F5344CB8AC3E}">
        <p14:creationId xmlns:p14="http://schemas.microsoft.com/office/powerpoint/2010/main" val="110558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7">
            <a:extLst xmlns:a="http://schemas.openxmlformats.org/drawingml/2006/main">
              <a:ext uri="{FF2B5EF4-FFF2-40B4-BE49-F238E27FC236}">
                <a16:creationId xmlns:a16="http://schemas.microsoft.com/office/drawing/2014/main" id="{3239D131-0E31-43B5-A47F-AEAB1855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项目迭代过程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1166E52-0B11-4DE3-A365-EB709EF0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移动端从“图标没反馈”推进到完整可见的操作状态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3D0AC529-AE95-4B40-96E2-98D39EF1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4" name="m0-frame">
            <a:extLst xmlns:a="http://schemas.openxmlformats.org/drawingml/2006/main">
              <a:ext uri="{FF2B5EF4-FFF2-40B4-BE49-F238E27FC236}">
                <a16:creationId xmlns:a16="http://schemas.microsoft.com/office/drawing/2014/main" id="{1C14805F-4E84-4E4A-8CCF-A93D95F8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2419350" cy="42100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4870cb22749d8"/>
          <a:srcRect xmlns:a="http://schemas.openxmlformats.org/drawingml/2006/main" l="0" t="9464" r="0" b="94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371600"/>
            <a:ext cx="2381250" cy="41719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6" name="ar0">
            <a:extLst xmlns:a="http://schemas.openxmlformats.org/drawingml/2006/main">
              <a:ext uri="{FF2B5EF4-FFF2-40B4-BE49-F238E27FC236}">
                <a16:creationId xmlns:a16="http://schemas.microsoft.com/office/drawing/2014/main" id="{BFDA1246-9A73-43A1-86C0-5C2B9547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0D5DD"/>
                </a:solidFill>
              </a:defRPr>
            </a:pPr>
            <a:r>
              <a:rPr sz="2550" b="1">
                <a:solidFill>
                  <a:srgbClr val="D0D5DD"/>
                </a:solidFill>
              </a:rPr>
              <a:t>→</a:t>
            </a:r>
          </a:p>
        </p:txBody>
      </p:sp>
      <p:sp>
        <p:nvSpPr>
          <p:cNvPr id="7" name="m1-frame">
            <a:extLst xmlns:a="http://schemas.openxmlformats.org/drawingml/2006/main">
              <a:ext uri="{FF2B5EF4-FFF2-40B4-BE49-F238E27FC236}">
                <a16:creationId xmlns:a16="http://schemas.microsoft.com/office/drawing/2014/main" id="{DA10CFD0-A1DB-4B76-A948-8D70ABC9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52550"/>
            <a:ext cx="2419350" cy="42100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b0fc9b8204433"/>
          <a:srcRect xmlns:a="http://schemas.openxmlformats.org/drawingml/2006/main" l="0" t="9464" r="0" b="94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2350" y="1371600"/>
            <a:ext cx="2381250" cy="41719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9" name="ar1">
            <a:extLst xmlns:a="http://schemas.openxmlformats.org/drawingml/2006/main">
              <a:ext uri="{FF2B5EF4-FFF2-40B4-BE49-F238E27FC236}">
                <a16:creationId xmlns:a16="http://schemas.microsoft.com/office/drawing/2014/main" id="{7D79EE92-38EA-43AF-9D64-05129D8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0D5DD"/>
                </a:solidFill>
              </a:defRPr>
            </a:pPr>
            <a:r>
              <a:rPr sz="2550" b="1">
                <a:solidFill>
                  <a:srgbClr val="D0D5DD"/>
                </a:solidFill>
              </a:rPr>
              <a:t>→</a:t>
            </a:r>
          </a:p>
        </p:txBody>
      </p:sp>
      <p:sp>
        <p:nvSpPr>
          <p:cNvPr id="10" name="m2-frame">
            <a:extLst xmlns:a="http://schemas.openxmlformats.org/drawingml/2006/main">
              <a:ext uri="{FF2B5EF4-FFF2-40B4-BE49-F238E27FC236}">
                <a16:creationId xmlns:a16="http://schemas.microsoft.com/office/drawing/2014/main" id="{7592B7B7-1C7A-4BF2-A625-02096080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52550"/>
            <a:ext cx="2419350" cy="42100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e53b1adbe4c94"/>
          <a:srcRect xmlns:a="http://schemas.openxmlformats.org/drawingml/2006/main" l="0" t="9464" r="0" b="94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1371600"/>
            <a:ext cx="2381250" cy="41719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2" name="proof">
            <a:extLst xmlns:a="http://schemas.openxmlformats.org/drawingml/2006/main">
              <a:ext uri="{FF2B5EF4-FFF2-40B4-BE49-F238E27FC236}">
                <a16:creationId xmlns:a16="http://schemas.microsoft.com/office/drawing/2014/main" id="{711C048D-2A8D-4EAC-9775-92C4F253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76400"/>
            <a:ext cx="2190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t">
            <a:extLst xmlns:a="http://schemas.openxmlformats.org/drawingml/2006/main">
              <a:ext uri="{FF2B5EF4-FFF2-40B4-BE49-F238E27FC236}">
                <a16:creationId xmlns:a16="http://schemas.microsoft.com/office/drawing/2014/main" id="{21E240EC-C899-445B-AB31-BA2E34FE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交付验证</a:t>
            </a:r>
          </a:p>
        </p:txBody>
      </p:sp>
      <p:sp>
        <p:nvSpPr>
          <p:cNvPr id="14" name="prc">
            <a:extLst xmlns:a="http://schemas.openxmlformats.org/drawingml/2006/main">
              <a:ext uri="{FF2B5EF4-FFF2-40B4-BE49-F238E27FC236}">
                <a16:creationId xmlns:a16="http://schemas.microsoft.com/office/drawing/2014/main" id="{309C8B85-1528-491E-BC36-F92C5483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714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真实 Android 安装</a:t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原生文件分享</a:t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CSV 移动交付</a:t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AI 固定状态条</a:t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头像只显示首字</a:t>
            </a:r>
          </a:p>
        </p:txBody>
      </p:sp>
      <p:sp>
        <p:nvSpPr>
          <p:cNvPr id="15" name="mn">
            <a:extLst xmlns:a="http://schemas.openxmlformats.org/drawingml/2006/main">
              <a:ext uri="{FF2B5EF4-FFF2-40B4-BE49-F238E27FC236}">
                <a16:creationId xmlns:a16="http://schemas.microsoft.com/office/drawing/2014/main" id="{DF762FC0-B07E-41B4-AA7C-7EC0B8D3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482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下一步：旧浏览器不支持文件分享时自动回退下载。</a:t>
            </a:r>
          </a:p>
        </p:txBody>
      </p:sp>
    </p:spTree>
    <p:extLst>
      <p:ext uri="{BB962C8B-B14F-4D97-AF65-F5344CB8AC3E}">
        <p14:creationId xmlns:p14="http://schemas.microsoft.com/office/powerpoint/2010/main" val="20314846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8">
            <a:extLst xmlns:a="http://schemas.openxmlformats.org/drawingml/2006/main">
              <a:ext uri="{FF2B5EF4-FFF2-40B4-BE49-F238E27FC236}">
                <a16:creationId xmlns:a16="http://schemas.microsoft.com/office/drawing/2014/main" id="{F96B7293-57A3-426E-939E-9742DC0A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项目迭代过程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650DBAB-31CA-4D59-A3BE-5AA3FBD9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迭代过程留下了可复查的代码、测试与交接记录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81D25AF1-5A58-48E7-9DE9-CBA2B322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FDE87349-336E-4DC6-B93D-EF2D1A6A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003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t0">
            <a:extLst xmlns:a="http://schemas.openxmlformats.org/drawingml/2006/main">
              <a:ext uri="{FF2B5EF4-FFF2-40B4-BE49-F238E27FC236}">
                <a16:creationId xmlns:a16="http://schemas.microsoft.com/office/drawing/2014/main" id="{C729E3AA-50DE-4BFF-A309-143D8EDE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n0">
            <a:extLst xmlns:a="http://schemas.openxmlformats.org/drawingml/2006/main">
              <a:ext uri="{FF2B5EF4-FFF2-40B4-BE49-F238E27FC236}">
                <a16:creationId xmlns:a16="http://schemas.microsoft.com/office/drawing/2014/main" id="{58389F87-56B0-41F2-B77B-B05C280B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dt0">
            <a:extLst xmlns:a="http://schemas.openxmlformats.org/drawingml/2006/main">
              <a:ext uri="{FF2B5EF4-FFF2-40B4-BE49-F238E27FC236}">
                <a16:creationId xmlns:a16="http://schemas.microsoft.com/office/drawing/2014/main" id="{4DD48752-C402-44B7-A046-CFBBAEBF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建立 Git</a:t>
            </a:r>
          </a:p>
        </p:txBody>
      </p:sp>
      <p:sp>
        <p:nvSpPr>
          <p:cNvPr id="8" name="dc0">
            <a:extLst xmlns:a="http://schemas.openxmlformats.org/drawingml/2006/main">
              <a:ext uri="{FF2B5EF4-FFF2-40B4-BE49-F238E27FC236}">
                <a16:creationId xmlns:a16="http://schemas.microsoft.com/office/drawing/2014/main" id="{E57AEE89-F94B-4938-9426-E9E2BFC0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原始项目纳入版本管理</a:t>
            </a:r>
          </a:p>
        </p:txBody>
      </p:sp>
      <p:sp>
        <p:nvSpPr>
          <p:cNvPr id="9" name="dot1">
            <a:extLst xmlns:a="http://schemas.openxmlformats.org/drawingml/2006/main">
              <a:ext uri="{FF2B5EF4-FFF2-40B4-BE49-F238E27FC236}">
                <a16:creationId xmlns:a16="http://schemas.microsoft.com/office/drawing/2014/main" id="{9D619FBD-05BC-49F1-8484-A8ED1DFA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90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n1">
            <a:extLst xmlns:a="http://schemas.openxmlformats.org/drawingml/2006/main">
              <a:ext uri="{FF2B5EF4-FFF2-40B4-BE49-F238E27FC236}">
                <a16:creationId xmlns:a16="http://schemas.microsoft.com/office/drawing/2014/main" id="{E202BF73-44B2-4ED5-A944-9E7116A3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dt1">
            <a:extLst xmlns:a="http://schemas.openxmlformats.org/drawingml/2006/main">
              <a:ext uri="{FF2B5EF4-FFF2-40B4-BE49-F238E27FC236}">
                <a16:creationId xmlns:a16="http://schemas.microsoft.com/office/drawing/2014/main" id="{8CD898A6-FBCD-4871-B52B-ADA8B22E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题库重建</a:t>
            </a:r>
          </a:p>
        </p:txBody>
      </p:sp>
      <p:sp>
        <p:nvSpPr>
          <p:cNvPr id="12" name="dc1">
            <a:extLst xmlns:a="http://schemas.openxmlformats.org/drawingml/2006/main">
              <a:ext uri="{FF2B5EF4-FFF2-40B4-BE49-F238E27FC236}">
                <a16:creationId xmlns:a16="http://schemas.microsoft.com/office/drawing/2014/main" id="{2956153A-006C-4D46-80F2-65472BDE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719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切片与批量审查</a:t>
            </a:r>
          </a:p>
        </p:txBody>
      </p:sp>
      <p:sp>
        <p:nvSpPr>
          <p:cNvPr id="13" name="dot2">
            <a:extLst xmlns:a="http://schemas.openxmlformats.org/drawingml/2006/main">
              <a:ext uri="{FF2B5EF4-FFF2-40B4-BE49-F238E27FC236}">
                <a16:creationId xmlns:a16="http://schemas.microsoft.com/office/drawing/2014/main" id="{2EA871C5-9CE9-4AEF-9D36-44D0567C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90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n2">
            <a:extLst xmlns:a="http://schemas.openxmlformats.org/drawingml/2006/main">
              <a:ext uri="{FF2B5EF4-FFF2-40B4-BE49-F238E27FC236}">
                <a16:creationId xmlns:a16="http://schemas.microsoft.com/office/drawing/2014/main" id="{FCCB9994-0399-464F-AEEF-701F938C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dt2">
            <a:extLst xmlns:a="http://schemas.openxmlformats.org/drawingml/2006/main">
              <a:ext uri="{FF2B5EF4-FFF2-40B4-BE49-F238E27FC236}">
                <a16:creationId xmlns:a16="http://schemas.microsoft.com/office/drawing/2014/main" id="{18C07693-2181-4FB3-A101-DA80F20D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功能补强</a:t>
            </a:r>
          </a:p>
        </p:txBody>
      </p:sp>
      <p:sp>
        <p:nvSpPr>
          <p:cNvPr id="16" name="dc2">
            <a:extLst xmlns:a="http://schemas.openxmlformats.org/drawingml/2006/main">
              <a:ext uri="{FF2B5EF4-FFF2-40B4-BE49-F238E27FC236}">
                <a16:creationId xmlns:a16="http://schemas.microsoft.com/office/drawing/2014/main" id="{CD0920D5-830C-46D6-AE58-32F1DD82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随机、AI、打印、恢复</a:t>
            </a:r>
          </a:p>
        </p:txBody>
      </p:sp>
      <p:sp>
        <p:nvSpPr>
          <p:cNvPr id="17" name="dot3">
            <a:extLst xmlns:a="http://schemas.openxmlformats.org/drawingml/2006/main">
              <a:ext uri="{FF2B5EF4-FFF2-40B4-BE49-F238E27FC236}">
                <a16:creationId xmlns:a16="http://schemas.microsoft.com/office/drawing/2014/main" id="{162FF010-4007-4291-BF94-1437C6D1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90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n3">
            <a:extLst xmlns:a="http://schemas.openxmlformats.org/drawingml/2006/main">
              <a:ext uri="{FF2B5EF4-FFF2-40B4-BE49-F238E27FC236}">
                <a16:creationId xmlns:a16="http://schemas.microsoft.com/office/drawing/2014/main" id="{41A13B65-0F81-482C-B4F4-2390D159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dt3">
            <a:extLst xmlns:a="http://schemas.openxmlformats.org/drawingml/2006/main">
              <a:ext uri="{FF2B5EF4-FFF2-40B4-BE49-F238E27FC236}">
                <a16:creationId xmlns:a16="http://schemas.microsoft.com/office/drawing/2014/main" id="{AFD7C8A4-F5D9-42F7-9410-65347EE3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147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跨端验证</a:t>
            </a:r>
          </a:p>
        </p:txBody>
      </p:sp>
      <p:sp>
        <p:nvSpPr>
          <p:cNvPr id="20" name="dc3">
            <a:extLst xmlns:a="http://schemas.openxmlformats.org/drawingml/2006/main">
              <a:ext uri="{FF2B5EF4-FFF2-40B4-BE49-F238E27FC236}">
                <a16:creationId xmlns:a16="http://schemas.microsoft.com/office/drawing/2014/main" id="{53D82AC0-C4CB-4329-9B37-7E34EE7B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网页测试与 Android 真机</a:t>
            </a:r>
          </a:p>
        </p:txBody>
      </p:sp>
      <p:sp>
        <p:nvSpPr>
          <p:cNvPr id="21" name="dot4">
            <a:extLst xmlns:a="http://schemas.openxmlformats.org/drawingml/2006/main">
              <a:ext uri="{FF2B5EF4-FFF2-40B4-BE49-F238E27FC236}">
                <a16:creationId xmlns:a16="http://schemas.microsoft.com/office/drawing/2014/main" id="{6680F9E8-D3A2-4872-85E4-0ABB0426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90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n4">
            <a:extLst xmlns:a="http://schemas.openxmlformats.org/drawingml/2006/main">
              <a:ext uri="{FF2B5EF4-FFF2-40B4-BE49-F238E27FC236}">
                <a16:creationId xmlns:a16="http://schemas.microsoft.com/office/drawing/2014/main" id="{8DE4293C-BFE3-467C-A1AA-A44E938A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05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dt4">
            <a:extLst xmlns:a="http://schemas.openxmlformats.org/drawingml/2006/main">
              <a:ext uri="{FF2B5EF4-FFF2-40B4-BE49-F238E27FC236}">
                <a16:creationId xmlns:a16="http://schemas.microsoft.com/office/drawing/2014/main" id="{C9E7A2A9-77AA-48EA-B657-8F9845B3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持续复核</a:t>
            </a:r>
          </a:p>
        </p:txBody>
      </p:sp>
      <p:sp>
        <p:nvSpPr>
          <p:cNvPr id="24" name="dc4">
            <a:extLst xmlns:a="http://schemas.openxmlformats.org/drawingml/2006/main">
              <a:ext uri="{FF2B5EF4-FFF2-40B4-BE49-F238E27FC236}">
                <a16:creationId xmlns:a16="http://schemas.microsoft.com/office/drawing/2014/main" id="{34479815-9635-4296-9FC2-3D367024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719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Bugbot 再查并发与生命周期</a:t>
            </a:r>
          </a:p>
        </p:txBody>
      </p:sp>
      <p:sp>
        <p:nvSpPr>
          <p:cNvPr id="25" name="base">
            <a:extLst xmlns:a="http://schemas.openxmlformats.org/drawingml/2006/main">
              <a:ext uri="{FF2B5EF4-FFF2-40B4-BE49-F238E27FC236}">
                <a16:creationId xmlns:a16="http://schemas.microsoft.com/office/drawing/2014/main" id="{86B29574-80DE-44C9-880A-44C410ED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当前验证基线：104 项自动化测试通过，生产构建通过，APK 已安装启动。</a:t>
            </a:r>
          </a:p>
        </p:txBody>
      </p:sp>
    </p:spTree>
    <p:extLst>
      <p:ext uri="{BB962C8B-B14F-4D97-AF65-F5344CB8AC3E}">
        <p14:creationId xmlns:p14="http://schemas.microsoft.com/office/powerpoint/2010/main" val="16935916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9">
            <a:extLst xmlns:a="http://schemas.openxmlformats.org/drawingml/2006/main">
              <a:ext uri="{FF2B5EF4-FFF2-40B4-BE49-F238E27FC236}">
                <a16:creationId xmlns:a16="http://schemas.microsoft.com/office/drawing/2014/main" id="{DFE08684-1DD3-4001-BA66-847D8750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项目迭代过程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B1690171-812F-485C-83BA-B7C8D0FD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这一轮迭代的价值，是把功能变成可持续使用的系统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739494E6-C843-4C64-ACE1-33CCD979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4" name="sub">
            <a:extLst xmlns:a="http://schemas.openxmlformats.org/drawingml/2006/main">
              <a:ext uri="{FF2B5EF4-FFF2-40B4-BE49-F238E27FC236}">
                <a16:creationId xmlns:a16="http://schemas.microsoft.com/office/drawing/2014/main" id="{C5E43710-A3FD-41F1-8F85-AF29015A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修复没有停在“页面能显示”，而是继续检查内容完整性、跨端交付和数据可恢复性。</a:t>
            </a:r>
          </a:p>
        </p:txBody>
      </p:sp>
      <p:sp>
        <p:nvSpPr>
          <p:cNvPr id="5" name="x1-bg">
            <a:extLst xmlns:a="http://schemas.openxmlformats.org/drawingml/2006/main">
              <a:ext uri="{FF2B5EF4-FFF2-40B4-BE49-F238E27FC236}">
                <a16:creationId xmlns:a16="http://schemas.microsoft.com/office/drawing/2014/main" id="{A5EE1001-286B-4F6D-BD5B-A89275FF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x1-v">
            <a:extLst xmlns:a="http://schemas.openxmlformats.org/drawingml/2006/main">
              <a:ext uri="{FF2B5EF4-FFF2-40B4-BE49-F238E27FC236}">
                <a16:creationId xmlns:a16="http://schemas.microsoft.com/office/drawing/2014/main" id="{514C9614-B4B2-4B69-9E28-1A57476B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479</a:t>
            </a:r>
          </a:p>
        </p:txBody>
      </p:sp>
      <p:sp>
        <p:nvSpPr>
          <p:cNvPr id="7" name="x1-c">
            <a:extLst xmlns:a="http://schemas.openxmlformats.org/drawingml/2006/main">
              <a:ext uri="{FF2B5EF4-FFF2-40B4-BE49-F238E27FC236}">
                <a16:creationId xmlns:a16="http://schemas.microsoft.com/office/drawing/2014/main" id="{431D4C45-B060-457D-AD68-06A1CA5E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838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道真题进入统一题库与审查流程</a:t>
            </a:r>
          </a:p>
        </p:txBody>
      </p:sp>
      <p:sp>
        <p:nvSpPr>
          <p:cNvPr id="8" name="x2-bg">
            <a:extLst xmlns:a="http://schemas.openxmlformats.org/drawingml/2006/main">
              <a:ext uri="{FF2B5EF4-FFF2-40B4-BE49-F238E27FC236}">
                <a16:creationId xmlns:a16="http://schemas.microsoft.com/office/drawing/2014/main" id="{EB94C356-E9B3-4FB4-8483-EFB3E55A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4795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x2-v">
            <a:extLst xmlns:a="http://schemas.openxmlformats.org/drawingml/2006/main">
              <a:ext uri="{FF2B5EF4-FFF2-40B4-BE49-F238E27FC236}">
                <a16:creationId xmlns:a16="http://schemas.microsoft.com/office/drawing/2014/main" id="{81DEA734-433B-45FC-A910-0B84E887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670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828"/>
                </a:solidFill>
              </a:defRPr>
            </a:pPr>
            <a:r>
              <a:rPr sz="4200" b="1">
                <a:solidFill>
                  <a:srgbClr val="101828"/>
                </a:solidFill>
              </a:rPr>
              <a:t>104</a:t>
            </a:r>
          </a:p>
        </p:txBody>
      </p:sp>
      <p:sp>
        <p:nvSpPr>
          <p:cNvPr id="10" name="x2-c">
            <a:extLst xmlns:a="http://schemas.openxmlformats.org/drawingml/2006/main">
              <a:ext uri="{FF2B5EF4-FFF2-40B4-BE49-F238E27FC236}">
                <a16:creationId xmlns:a16="http://schemas.microsoft.com/office/drawing/2014/main" id="{E2952566-E067-49D6-8082-401B1D0C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62400"/>
            <a:ext cx="2838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项自动化测试覆盖核心服务</a:t>
            </a:r>
          </a:p>
        </p:txBody>
      </p:sp>
      <p:sp>
        <p:nvSpPr>
          <p:cNvPr id="11" name="x3-bg">
            <a:extLst xmlns:a="http://schemas.openxmlformats.org/drawingml/2006/main">
              <a:ext uri="{FF2B5EF4-FFF2-40B4-BE49-F238E27FC236}">
                <a16:creationId xmlns:a16="http://schemas.microsoft.com/office/drawing/2014/main" id="{2E9CDE80-4933-44D6-822B-46E5B064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x3-v">
            <a:extLst xmlns:a="http://schemas.openxmlformats.org/drawingml/2006/main">
              <a:ext uri="{FF2B5EF4-FFF2-40B4-BE49-F238E27FC236}">
                <a16:creationId xmlns:a16="http://schemas.microsoft.com/office/drawing/2014/main" id="{C6DB77B8-0E0E-45EB-943E-3F815556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3" name="x3-c">
            <a:extLst xmlns:a="http://schemas.openxmlformats.org/drawingml/2006/main">
              <a:ext uri="{FF2B5EF4-FFF2-40B4-BE49-F238E27FC236}">
                <a16:creationId xmlns:a16="http://schemas.microsoft.com/office/drawing/2014/main" id="{73F6A9F9-2FD7-4A9B-9C53-10CBFB2F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62400"/>
            <a:ext cx="2838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项 Bugbot 新发现进入下一轮修复</a:t>
            </a:r>
          </a:p>
        </p:txBody>
      </p:sp>
      <p:sp>
        <p:nvSpPr>
          <p:cNvPr id="14" name="todo">
            <a:extLst xmlns:a="http://schemas.openxmlformats.org/drawingml/2006/main">
              <a:ext uri="{FF2B5EF4-FFF2-40B4-BE49-F238E27FC236}">
                <a16:creationId xmlns:a16="http://schemas.microsoft.com/office/drawing/2014/main" id="{427D70A6-5E82-431B-B9F1-D7DEBC2D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091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下一轮：跨设备 ETag 条件写 → 自动 AI effect 修复 → 旧浏览器分享回退。</a:t>
            </a:r>
          </a:p>
        </p:txBody>
      </p:sp>
    </p:spTree>
    <p:extLst>
      <p:ext uri="{BB962C8B-B14F-4D97-AF65-F5344CB8AC3E}">
        <p14:creationId xmlns:p14="http://schemas.microsoft.com/office/powerpoint/2010/main" val="1406048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2026-08-16T20:26:27.2230000Z</dcterms:created>
  <dcterms:modified xsi:type="dcterms:W3CDTF">2026-08-16T20:26:27.2230000Z</dcterms:modified>
</coreProperties>
</file>